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开场白: 感谢给我这个机会。今天我用 12 分钟讲三件事——我怎么看现状、我会先做什么、以及一条低成本、对齐集团的落地路线。我的目标只有一句话: 让财务少做报表、多帮您做决策。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先说结论: 我把管理层的四个抱怨,翻译成了四个根因。注意——右边红字都是'系统与标准'问题,不是'人不努力'。尤其'口径不一致'本质是人和流程问题: 每个实体对同一个指标的定义不一样。抓住根因,后面的路线图才对症。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这五条是我的工作方法招牌。最想强调第②条: 先定义后自动化——如果口径还没统一就上工具,只会更快地生产不一致的数字。第⑤条是给您的定心丸: 我不会一上来就要大预算大项目,而是先用公司已有的工具做出成果,再用成果申请下一步投入。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一张图说明方向: 左边是现在,右边是目标。转型不是买个工具,而是把财务的角色从'搬数字'变成'讲业务、看未来'。这也回应了管理层要的三个词: 更快、更可靠、更前瞻。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排序逻辑: 按'价值高 + 见效快 + 依赖少'来排。第一件事是统一定义,因为它零成本却是一切的地基;第二件是自动化现有 Excel,90 天内就能让您看到报告变快。先解决'快和准',再谈'前瞻'。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这是整份提案的骨架。四个阶段,每个都有能量化的里程碑——重点看'首版报告出具时间'这条主线: 第4天→第2天→第1天→准实时。我不会一次性推倒重来,而是每阶段交付看得见的成果。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平台一层层建: 底层 SAP 是唯一记录,往上是自动集成、中央仓库(单一真相)、KPI语义层,最上面才是看板和预测。左侧金色竖条是贯穿所有层的治理——所有权、标准、权限、变更。路线图就是从下往上、一层层把它建起来。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这是最有说服力的一页。同一个'净销售额',七个实体原来算出七个数,差几百万。数据字典把四个维度锁死、让各实体签字、并写进模型后重算——右边绿色是统一口径结果。关键价值: 现在实体间的差异都是真实的业务差异,您的追问不会再触发一轮手工对账。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上一页讲'为什么',这页讲'怎么做到'。三层管道: 脏数据进,自动拆税、拆服务、剔运费、打加减号,吐出一张干净的长表。以 E4 为例: 直接加总会虚高 260 万,统一口径后是 875 万。关键在'配置表驱动'——业务改口径只改表里一行,不用找 IT,而且每个数字都能追回 SAP 凭证。这套逻辑我已经写成可运行的 SQL 和 Excel 脚本。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回答'如何实时'这个问题,先给您一个成熟判断: 别追求逐秒流式,那贵且没必要。管理报告要的是'对的时间'——大多数每日刷新就够。做法是: 自动抽取代替手工导出、预建模型让报告秒开可下钻;只有现金、订单这类关键指标才单独做近实时。取数方式按集团现有资产由轻到重选。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这页专门打消您对'又要花大钱'的顾虑。核心思路: 先用公司已经买过的微软工具,先做不花钱但高价值的标准化,尽量低代码少依赖 IT,能复用集团的就复用。最重要的一条——用 90 天的成果去换下一步的预算,让投入始终跟着价值走。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这个岗位在快速演进,我的应对是: 持续把自己打造成'既懂财务又懂数据'的 T 型人才,紧跟 FP&amp;A 自动化和 AI 趋势,和 IT、业务建立长期伙伴关系,并且用产品思维持续迭代报告——它永远是 v1、v2、v3,不是交付一次就结束。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最后给您一个低风险、可验证的承诺: 30天、60天、90天各交付什么,清清楚楚。我今天只有一个请求——请授权我牵头 KPI 口径对齐,并让每个实体指定一名数据对接人。这一步不花钱,却能启动整个转型。谢谢您,我很期待加入团队。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收尾: 用一句话把主张再钉一遍——让财务少做报表、多帮您做决策。预留时间回答问题。准备好三个可能的追问: 数据质量怎么保证、各实体不配合怎么办、和集团项目会不会冲突。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E1A52B"/>
                </a:solidFill>
                <a:latin typeface="微软雅黑"/>
              </a:rPr>
              <a:t>Controller · Business Intelligence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从「报表工厂」到「业务伙伴」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C9DAEA"/>
                </a:solidFill>
                <a:latin typeface="微软雅黑"/>
              </a:rPr>
              <a:t>Finance &amp; Controlling 转型建议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核心主张:  让财务少花时间做报表,多花时间帮您做决策 —— </a:t>
            </a:r>
            <a:r>
              <a:rPr sz="1600" b="1">
                <a:solidFill>
                  <a:srgbClr val="E1A52B"/>
                </a:solidFill>
                <a:latin typeface="微软雅黑"/>
              </a:rPr>
              <a:t>更快、更准、更前瞻,且低成本、对齐集团。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9FB4C9"/>
                </a:solidFill>
                <a:latin typeface="微软雅黑"/>
              </a:rPr>
              <a:t>汇报对象: CFO    |    时长: 10–15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1 · 现状诊断 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问题不在「人不努力」,而在「没有平台和标准」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1143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62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微软雅黑"/>
              </a:rPr>
              <a:t>⚠ 月报第4天才出,月结太慢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5166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444A52"/>
                </a:solidFill>
                <a:latin typeface="微软雅黑"/>
              </a:rPr>
              <a:t>根因: SAP导出→Excel手工加工→手工合并,无自动化管道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1143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762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813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微软雅黑"/>
              </a:rPr>
              <a:t>⚠ 7个实体口径不一致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166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444A52"/>
                </a:solidFill>
                <a:latin typeface="微软雅黑"/>
              </a:rPr>
              <a:t>根因: 缺统一KPI/科目定义与主数据治理,无「单一事实来源」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5486400" cy="1143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97480"/>
            <a:ext cx="762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0720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微软雅黑"/>
              </a:rPr>
              <a:t>⚠ 每个追问都要重来一遍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27832"/>
            <a:ext cx="5166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444A52"/>
                </a:solidFill>
                <a:latin typeface="微软雅黑"/>
              </a:rPr>
              <a:t>根因: 报告是静态Excel,无法自助下钻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697480"/>
            <a:ext cx="5486400" cy="1143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97480"/>
            <a:ext cx="762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0720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微软雅黑"/>
              </a:rPr>
              <a:t>⚠ 预测/计划与实际对不上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27832"/>
            <a:ext cx="5166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444A52"/>
                </a:solidFill>
                <a:latin typeface="微软雅黑"/>
              </a:rPr>
              <a:t>根因: 计划、预测、实际分散多张表,无统一数据模型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一句话总结: </a:t>
            </a:r>
            <a:r>
              <a:rPr sz="1500" b="0">
                <a:solidFill>
                  <a:srgbClr val="444A52"/>
                </a:solidFill>
                <a:latin typeface="微软雅黑"/>
              </a:rPr>
              <a:t>我们现在——慢、口径乱、被动、且向后看。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2 · 方法论 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五条贯穿始终的原则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291840" cy="7498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4533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① 单一事实来源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417320"/>
            <a:ext cx="763524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545336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SAP 是唯一系统记录,所有报告从同一数据模型出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13432"/>
            <a:ext cx="3291840" cy="7498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② 先定义,后自动化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2313432"/>
            <a:ext cx="763524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2441448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KPI口径先统一,否则自动化的是错误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9544"/>
            <a:ext cx="3291840" cy="7498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3756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③ 人做分析,机器做搬运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3209544"/>
            <a:ext cx="763524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33756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把手工合并交给系统,人专注洞察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05656"/>
            <a:ext cx="3291840" cy="7498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④ 自助式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4105656"/>
            <a:ext cx="763524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4233672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管理层自己点开下钻,追问不再产生手工活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01768"/>
            <a:ext cx="3291840" cy="7498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2978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⑤ 务实小步快跑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5001768"/>
            <a:ext cx="763524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5129784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先用现有许可证做速赢,用成果换预算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3 · 愿景 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从「报表工厂」到「业务决策伙伴」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4572000" cy="27432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457200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今天 · 报表工厂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444A52"/>
                </a:solidFill>
                <a:latin typeface="微软雅黑"/>
              </a:rPr>
              <a:t>▪  首版报告 第4天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444A52"/>
                </a:solidFill>
                <a:latin typeface="微软雅黑"/>
              </a:rPr>
              <a:t>▪  大量手工合并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444A52"/>
                </a:solidFill>
                <a:latin typeface="微软雅黑"/>
              </a:rPr>
              <a:t>▪  口径不一 / 被动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444A52"/>
                </a:solidFill>
                <a:latin typeface="微软雅黑"/>
              </a:rPr>
              <a:t>▪  向后看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01752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146CB4"/>
                </a:solidFill>
                <a:latin typeface="微软雅黑"/>
              </a:rPr>
              <a:t>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011680"/>
            <a:ext cx="4572000" cy="27432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2011680"/>
            <a:ext cx="4572000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目标 · 业务伙伴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8346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▪  准实时 · 单一真相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▪  自动化管道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▪  自助下钻 / 主动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▪  前瞻 · 滚动预测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4 · 优先级 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先做什么,为什么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最先做:统一 KPI/科目定义 (数据字典)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      –  零成本、最高价值;是自动化与实时报告的地基。地基不统一,自动化只会更快出错。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紧接着:自动化现有合并 (Power Query)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      –  立刻见效——首版报告 第4天 → 第2天,不需IT、不花钱。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然后:中央数据模型 = 单一事实来源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      –  各实体本地科目映射到集团科目,消灭'谁的表覆盖谁'。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最后:整合计划与预测 + 前瞻分析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      –  实际/预算/预测同一视图;滚动预测、情景模拟。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5 · 落地路线图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稳住 → 标准化 → 自动化 → 智能化 (四阶段)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577840"/>
                <a:gridCol w="32004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 marL="109728" marR="91440" marT="45720" marB="4572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微软雅黑"/>
                        </a:rPr>
                        <a:t>关键动作</a:t>
                      </a:r>
                    </a:p>
                  </a:txBody>
                  <a:tcPr marL="109728" marR="91440" marT="45720" marB="4572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微软雅黑"/>
                        </a:rPr>
                        <a:t>可交付 / 里程碑</a:t>
                      </a:r>
                    </a:p>
                  </a:txBody>
                  <a:tcPr marL="109728" marR="91440" marT="45720" marB="45720" anchor="ctr">
                    <a:solidFill>
                      <a:srgbClr val="0B2A4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6CB4"/>
                          </a:solidFill>
                          <a:latin typeface="微软雅黑"/>
                        </a:rPr>
                        <a:t>0 诊断 (~30天)</a:t>
                      </a:r>
                    </a:p>
                  </a:txBody>
                  <a:tcPr marL="109728" marR="91440" marT="45720" marB="45720" anchor="ctr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画流程图、盘点报告与许可证、锁定核心KPI</a:t>
                      </a:r>
                    </a:p>
                  </a:txBody>
                  <a:tcPr marL="109728" marR="91440" marT="45720" marB="45720" anchor="ctr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《现状评估+速赢清单》</a:t>
                      </a:r>
                    </a:p>
                  </a:txBody>
                  <a:tcPr marL="109728" marR="91440" marT="45720" marB="45720" anchor="ctr">
                    <a:solidFill>
                      <a:srgbClr val="ECF1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6CB4"/>
                          </a:solidFill>
                          <a:latin typeface="微软雅黑"/>
                        </a:rPr>
                        <a:t>1 稳住 (1–3月)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建KPI数据字典+7实体签字;Power Query自动合并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首版报告 第4天→第2天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6CB4"/>
                          </a:solidFill>
                          <a:latin typeface="微软雅黑"/>
                        </a:rPr>
                        <a:t>2 标准化 (3–6月)</a:t>
                      </a:r>
                    </a:p>
                  </a:txBody>
                  <a:tcPr marL="109728" marR="91440" marT="45720" marB="45720" anchor="ctr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中央数据模型;本地科目→集团科目映射;主数据治理</a:t>
                      </a:r>
                    </a:p>
                  </a:txBody>
                  <a:tcPr marL="109728" marR="91440" marT="45720" marB="45720" anchor="ctr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单一事实来源+自助下钻</a:t>
                      </a:r>
                    </a:p>
                  </a:txBody>
                  <a:tcPr marL="109728" marR="91440" marT="45720" marB="45720" anchor="ctr">
                    <a:solidFill>
                      <a:srgbClr val="ECF1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6CB4"/>
                          </a:solidFill>
                          <a:latin typeface="微软雅黑"/>
                        </a:rPr>
                        <a:t>3 自动化 (6–12月)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全链路自动;每日/准实时;整合计划与预测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首版→第1天/准实时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6CB4"/>
                          </a:solidFill>
                          <a:latin typeface="微软雅黑"/>
                        </a:rPr>
                        <a:t>4 智能化 (12月+)</a:t>
                      </a:r>
                    </a:p>
                  </a:txBody>
                  <a:tcPr marL="109728" marR="91440" marT="45720" marB="45720" anchor="ctr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滚动预测、驱动因子、情景模拟、异常预警</a:t>
                      </a:r>
                    </a:p>
                  </a:txBody>
                  <a:tcPr marL="109728" marR="91440" marT="45720" marB="45720" anchor="ctr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前瞻+预测性分析</a:t>
                      </a:r>
                    </a:p>
                  </a:txBody>
                  <a:tcPr marL="109728" marR="91440" marT="45720" marB="45720" anchor="ctr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6 · 智能共享平台 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Intelligent Shared Platform —— 分层架构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371600"/>
            <a:ext cx="2743200" cy="749808"/>
          </a:xfrm>
          <a:prstGeom prst="rect">
            <a:avLst/>
          </a:prstGeom>
          <a:solidFill>
            <a:srgbClr val="14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490472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消费层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371600"/>
            <a:ext cx="630936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490472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444A52"/>
                </a:solidFill>
                <a:latin typeface="微软雅黑"/>
              </a:rPr>
              <a:t>BI仪表盘 · 自助分析 · 计划与预测 · 高级分析/AI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240280"/>
            <a:ext cx="2743200" cy="7498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359152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语义 / KPI 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240280"/>
            <a:ext cx="630936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359152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444A52"/>
                </a:solidFill>
                <a:latin typeface="微软雅黑"/>
              </a:rPr>
              <a:t>统一KPI定义 (数据字典落进模型)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108960"/>
            <a:ext cx="2743200" cy="7498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3227832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中央数据层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108960"/>
            <a:ext cx="630936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227832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444A52"/>
                </a:solidFill>
                <a:latin typeface="微软雅黑"/>
              </a:rPr>
              <a:t>数据仓库 = 单一事实来源 (统一主数据 · 集团科目映射)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977640"/>
            <a:ext cx="2743200" cy="749808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4096512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数据集成层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977640"/>
            <a:ext cx="630936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096512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444A52"/>
                </a:solidFill>
                <a:latin typeface="微软雅黑"/>
              </a:rPr>
              <a:t>自动抽取/转换 ELT (Power Query→dataflows→SAP Datasphere/BW)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846320"/>
            <a:ext cx="2743200" cy="749808"/>
          </a:xfrm>
          <a:prstGeom prst="rect">
            <a:avLst/>
          </a:prstGeom>
          <a:solidFill>
            <a:srgbClr val="44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4965192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源系统层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4846320"/>
            <a:ext cx="6309360" cy="74980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4965192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444A52"/>
                </a:solidFill>
                <a:latin typeface="微软雅黑"/>
              </a:rPr>
              <a:t>SAP (ERP · 唯一系统记录) + 其他源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371600"/>
            <a:ext cx="1280160" cy="416052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1371600"/>
            <a:ext cx="1243584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治理贯穿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数据所有权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KPI标准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安全权限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变更管理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7 · 案例A  ONE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口径统一实例:同一「净销售额」,7个实体不再各算各的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B2A4A"/>
                </a:solidFill>
                <a:latin typeface="微软雅黑"/>
              </a:rPr>
              <a:t>做法: KPI数据字典锁死4个维度(含税/加减项/科目映射/确认时点)+7实体书面签字+写进模型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743200"/>
                <a:gridCol w="356616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微软雅黑"/>
                        </a:rPr>
                        <a:t>实体</a:t>
                      </a:r>
                    </a:p>
                  </a:txBody>
                  <a:tcPr anchor="ctr" marL="109728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微软雅黑"/>
                        </a:rPr>
                        <a:t>原上报(万)</a:t>
                      </a:r>
                    </a:p>
                  </a:txBody>
                  <a:tcPr anchor="ctr" marL="109728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微软雅黑"/>
                        </a:rPr>
                        <a:t>统一口径后(万)</a:t>
                      </a:r>
                    </a:p>
                  </a:txBody>
                  <a:tcPr anchor="ctr" marL="109728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微软雅黑"/>
                        </a:rPr>
                        <a:t>差异原因</a:t>
                      </a:r>
                    </a:p>
                  </a:txBody>
                  <a:tcPr anchor="ctr" marL="109728"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医疗-华东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9E8F"/>
                          </a:solidFill>
                          <a:latin typeface="微软雅黑"/>
                        </a:rPr>
                        <a:t>940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补扣现金折扣、退货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医疗-华北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950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9E8F"/>
                          </a:solidFill>
                          <a:latin typeface="微软雅黑"/>
                        </a:rPr>
                        <a:t>910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剔除运费收入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生产实体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9E8F"/>
                          </a:solidFill>
                          <a:latin typeface="微软雅黑"/>
                        </a:rPr>
                        <a:t>900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剔除增值税(含税拆分)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服务实体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900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9E8F"/>
                          </a:solidFill>
                          <a:latin typeface="微软雅黑"/>
                        </a:rPr>
                        <a:t>930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补入漏计的服务收入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贸易实体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980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9E8F"/>
                          </a:solidFill>
                          <a:latin typeface="微软雅黑"/>
                        </a:rPr>
                        <a:t>940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A52"/>
                          </a:solidFill>
                          <a:latin typeface="微软雅黑"/>
                        </a:rPr>
                        <a:t>发货口径→开票口径</a:t>
                      </a:r>
                    </a:p>
                  </a:txBody>
                  <a:tcPr anchor="ctr" marL="10972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B2A4A"/>
                </a:solidFill>
                <a:latin typeface="微软雅黑"/>
              </a:rPr>
              <a:t>价值: </a:t>
            </a:r>
            <a:r>
              <a:rPr sz="1400" b="0">
                <a:solidFill>
                  <a:srgbClr val="444A52"/>
                </a:solidFill>
                <a:latin typeface="微软雅黑"/>
              </a:rPr>
              <a:t>差异从「算法差异」变成「业务差异」——追问从'这数对不对'变成'这生意为什么好',不再手工核对。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8 · 案例B 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映射拆分管道:脏数据进 → 干净表出 (配置表驱动)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38328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① Staging 贴源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SAP原样导出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(含税/运费混入/退货为正)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82880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微软雅黑"/>
              </a:rPr>
              <a:t>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383280" cy="1554480"/>
          </a:xfrm>
          <a:prstGeom prst="rect">
            <a:avLst/>
          </a:prstGeom>
          <a:solidFill>
            <a:srgbClr val="14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② 转换层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JOIN配置表→拆税÷1.13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拆服务·剔运费·打加减号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2880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微软雅黑"/>
              </a:rPr>
              <a:t>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383280" cy="15544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③ 干净事实表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长格式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集团科目+EUR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2A4A"/>
                </a:solidFill>
                <a:latin typeface="微软雅黑"/>
              </a:rPr>
              <a:t>E4 生产实体 (含税13%+运费混入) 结果: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292608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03904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原始直接加总(错)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703320"/>
            <a:ext cx="8046720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803904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444A52"/>
                </a:solidFill>
                <a:latin typeface="微软雅黑"/>
              </a:rPr>
              <a:t>11,300,000 + 113,000 = 11,413,000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61688"/>
            <a:ext cx="2926080" cy="56692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46227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统一口径净销售(对)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4361688"/>
            <a:ext cx="8046720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4462272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444A52"/>
                </a:solidFill>
                <a:latin typeface="微软雅黑"/>
              </a:rPr>
              <a:t>10,000,000 − 1,000,000 − 200,000 − 50,000 = 8,750,000 CNY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0056"/>
            <a:ext cx="2926080" cy="5669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1206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内置校验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5020056"/>
            <a:ext cx="8046720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512064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444A52"/>
                </a:solidFill>
                <a:latin typeface="微软雅黑"/>
              </a:rPr>
              <a:t>含税还原✓  总额守恒✓  未映射告警✓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2A4A"/>
                </a:solidFill>
                <a:latin typeface="微软雅黑"/>
              </a:rPr>
              <a:t>规则放配置表、逻辑放管道:改口径只改一行、全实体复用、每个数字可审计追溯。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9 · 实时报告 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如何实现「实时」报告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1A52B"/>
                </a:solidFill>
                <a:latin typeface="微软雅黑"/>
              </a:rPr>
              <a:t>成熟观点: </a:t>
            </a:r>
            <a:r>
              <a:rPr sz="1500" b="0">
                <a:solidFill>
                  <a:srgbClr val="444A52"/>
                </a:solidFill>
                <a:latin typeface="微软雅黑"/>
              </a:rPr>
              <a:t>管理决策要的是「right-time」(对的时间)——多数是每日/准实时,而非逐秒流式。把成本花在刀刃上。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自动定时抽取 + 增量刷新,替代人工导出 (先做到每日刷新)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预建数据模型,报告直接读模型:秒级打开、可下钻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关键指标(现金/订单)用 DirectQuery / 近实时连接单独处理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SAP取数方式(由轻到重):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      –  OData / CDS View  →  连接器抽表  →  复用集团 SAP BW / SAP Analytics Cloud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10 · 约束下落地 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有限预算 + 有限IT + 对齐集团,怎么做到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▪  先用「已经付过钱」的工具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      –  Microsoft 365 的 Power Query / Power BI / Power Automate,几乎零增量成本跑完阶段1–2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▪  零成本高价值的先做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      –  KPI数据字典、流程标准化不花钱,却解决口径乱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▪  低代码、少定制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      –  减少对IT依赖:业务主导 + IT把关(治理护栏)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▪  复用集团资产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      –  对接集团统一科目表 / SAP BW / SAC——既省钱又天然合规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B2A4A"/>
                </a:solidFill>
                <a:latin typeface="微软雅黑"/>
              </a:rPr>
              <a:t>▪  用成果换预算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444A52"/>
                </a:solidFill>
                <a:latin typeface="微软雅黑"/>
              </a:rPr>
              <a:t>      –  先交付90天速赢,用'第4天→第2天、省X工时'去申请下一阶段投入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11 · 持续进化 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角色在演进,我如何持续跟上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建立「财务 + 数据」的 T 型能力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      –  精进数据建模、BI、分析(Power BI / SQL / SAC 认证)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关注趋势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      –  FP&amp;A自动化、分析、AI在财务的应用;加入集团Controlling网络与外部社区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建立长期伙伴关系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      –  与IT、业务并肩,而非单打独斗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B2A4A"/>
                </a:solidFill>
                <a:latin typeface="微软雅黑"/>
              </a:rPr>
              <a:t>▪  保持「产品思维」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      –  把报告当产品持续迭代,而非一次性交付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12 · 前90天  QUICK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前90天承诺 + 行动请求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0972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E1A52B"/>
                </a:solidFill>
                <a:latin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645920" cy="868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30 天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63040"/>
            <a:ext cx="9144000" cy="86868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664208"/>
            <a:ext cx="8778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现状诊断 + 统一KPI数据字典(各实体确认)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1645920" cy="868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60 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468880"/>
            <a:ext cx="9144000" cy="86868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670048"/>
            <a:ext cx="8778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自动化月度合并,首版报告 第4天 → 第2天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1645920" cy="868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7588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90 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474720"/>
            <a:ext cx="9144000" cy="86868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675888"/>
            <a:ext cx="8778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444A52"/>
                </a:solidFill>
                <a:latin typeface="微软雅黑"/>
              </a:rPr>
              <a:t>上线第一个自助管理仪表盘(单一版本真相)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09160"/>
            <a:ext cx="10972800" cy="1371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E1A52B"/>
                </a:solidFill>
                <a:latin typeface="微软雅黑"/>
              </a:rPr>
              <a:t>行动请求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请授权我牵头 KPI 口径对齐,并指定各实体一名数据对接人。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063240"/>
            <a:ext cx="3657600" cy="50800"/>
          </a:xfrm>
          <a:prstGeom prst="rect">
            <a:avLst/>
          </a:prstGeom>
          <a:solidFill>
            <a:srgbClr val="E1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让财务少做报表,多帮您做决策。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E1A52B"/>
                </a:solidFill>
                <a:latin typeface="微软雅黑"/>
              </a:rPr>
              <a:t>更快 · 更准 · 更前瞻    |    低成本 · 对齐集团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9FB4C9"/>
                </a:solidFill>
                <a:latin typeface="微软雅黑"/>
              </a:rPr>
              <a:t>谢谢  ·  期待您的问题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