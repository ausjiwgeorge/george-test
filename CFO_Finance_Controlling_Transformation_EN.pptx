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Thank you for the opportunity. In the next 12 minutes I will cover three things — how I read the situation, what I would do first, and a low-cost roadmap that stays aligned with Group. My goal in one sentence: free Finance from producing reports so it can help you make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flow for the next 12 minutes. I start with how I read the situation and my principles, move to the vision, priorities and the delivery roadmap, then show two concrete cases — aligning Net Sales and the mapping pipeline — and close with real-time reporting, how I deliver under our constraints, how I keep up, and my 90-day commitment and single 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line first: I translated management's four complaints into four root causes. Note the red text on the right is all about systems and standards — not people not trying. In particular, 'inconsistent figures' is fundamentally a people-and-process issue: each entity defines the same metric differently. Getting the root cause right is what makes the roadmap effective.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are my working method. The one I stress most is #2: define first, then automate — if definitions are not aligned, automation just produces inconsistent numbers faster. And #5 is your reassurance: I will not ask for a big budget and a big project up front; I will use tools the company already owns to create results, then use those results to earn the next investment.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for the direction: left is where we are, right is the target. This transformation is not about buying a tool; it is about shifting Finance from moving numbers to explaining the business and looking ahead. It also answers the three words management asked for: faster, more reliable, more forward-looking.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sequencing logic: I order by value, speed to impact, and low dependency. The first move is aligning definitions because it costs nothing yet underpins everything; the second is automating the existing Excel so you see reports get faster within 90 days. Fix 'fast and reliable' first, then move to 'forward-looking'.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roadmap, shown as a timeline. Five phases along an arrow of increasing maturity, each with its key action and a milestone. Follow the blue strip at the bottom — the single thread I manage is 'time to first report': Day 4 to Day 2 to Day 1 to near-real-time. Every phase delivers a visible result.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is built layer by layer: SAP at the base is the one record, then automated integration, the central warehouse (single truth), the KPI semantic layer, and only at the top the dashboards and forecasts. The gold bar on the left is governance running through every layer — ownership, standards, access, change. The roadmap is simply building this bottom-up.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persuasive slide. The same 'Net Sales' produced seven different numbers, off by millions. After the data dictionary locks the four dimensions, entities sign off, and it is built into the model, we recompute — the green column is the aligned result. The key value: differences between entities are now real business differences, so your questions no longer trigger a round of manual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slide is the 'why'; this is the 'how'. A three-layer pipeline: dirty data in, automatically split VAT, split service, drop freight, apply +/- signs, and out comes a clean tidy table. For the production entity: a naive sum overstates by 2.6m; the aligned Net Sales is 8.75m. The key is 'config-driven' — to change a basis, business edits one row of a table, no IT needed, and every figure traces back to the SAP document. I have this as runnable SQL and Excel.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'how to be real-time', I first give you a mature judgment: don't chase per-second streaming — it is expensive and unnecessary. Management reporting needs the right time; for most, a daily refresh is enough. The method: automated extraction replaces manual export, a pre-built model makes reports open instantly and drillable; only cash and orders get near-real-time. Choose the SAP access method based on Group's existing assets.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directly addresses the 'this will cost a lot' concern. The core idea: start with Microsoft tools the company already owns, do the free-but-high-value standardization first, keep it low-code with minimal IT dependency, and reuse whatever Group already has. Most importantly — use 90-day results to earn the next budget, so investment always follows value.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role is evolving fast. My response: keep building myself into a T-shaped professional who understands both finance and data, stay close to FP&amp;A automation and AI trends, build lasting partnerships with IT and the business, and use a product mindset to keep iterating the reports — they are always v1, v2, v3, never finished after one delivery.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 see Finance heading. The autonomous AI engine in the middle runs the repetitive work end-to-end — monthly close, planning and forecasting, expense accruals, reconciliations, reporting, and continuous controls. People move to the top layer: we govern and assure it, we manage and maintain it, and — most importantly — we use creativity to keep improving its performance, while partnering with the business. Note the loop: people guide and improve the AI; the AI returns results, exceptions and insights. The shift is from doing the work to designing and improving the system that does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a low-risk, verifiable commitment: exactly what I deliver at 30, 60 and 90 days. I have only one request today — authorize me to lead the KPI alignment and have each entity nominate a single data contact. It costs nothing, yet it starts the whole transformation. Thank you; I look forward to joining the team.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nail the message one more time — free Finance from reports so it can help you decide. Leave time for questions. Be ready for three likely ones: how do you ensure data quality, what if entities do not cooperate, and how does this avoid conflict with Group projects.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25880"/>
            <a:ext cx="10515600" cy="365760"/>
          </a:xfrm>
          <a:prstGeom prst="rect">
            <a:avLst/>
          </a:prstGeom>
          <a:noFill/>
        </p:spPr>
        <p:txBody>
          <a:bodyPr wrap="square" anchor="t">
            <a:spAutoFit/>
          </a:bodyPr>
          <a:lstStyle/>
          <a:p>
            <a:pPr algn="l">
              <a:lnSpc>
                <a:spcPct val="105000"/>
              </a:lnSpc>
              <a:spcAft>
                <a:spcPts val="600"/>
              </a:spcAft>
            </a:pPr>
            <a:r>
              <a:rPr sz="1400" b="1">
                <a:solidFill>
                  <a:srgbClr val="C8A24B"/>
                </a:solidFill>
                <a:latin typeface="Calibri"/>
              </a:rPr>
              <a:t>CONTROLLER  ·  BUSINESS INTELLIGENCE &amp; REPORTING</a:t>
            </a:r>
          </a:p>
        </p:txBody>
      </p:sp>
      <p:sp>
        <p:nvSpPr>
          <p:cNvPr id="5" name="TextBox 4"/>
          <p:cNvSpPr txBox="1"/>
          <p:nvPr/>
        </p:nvSpPr>
        <p:spPr>
          <a:xfrm>
            <a:off x="868680" y="1965960"/>
            <a:ext cx="10607040" cy="1920240"/>
          </a:xfrm>
          <a:prstGeom prst="rect">
            <a:avLst/>
          </a:prstGeom>
          <a:noFill/>
        </p:spPr>
        <p:txBody>
          <a:bodyPr wrap="square" anchor="t">
            <a:spAutoFit/>
          </a:bodyPr>
          <a:lstStyle/>
          <a:p>
            <a:pPr algn="l">
              <a:lnSpc>
                <a:spcPct val="115000"/>
              </a:lnSpc>
              <a:spcAft>
                <a:spcPts val="600"/>
              </a:spcAft>
            </a:pPr>
            <a:r>
              <a:rPr sz="4000" b="0">
                <a:solidFill>
                  <a:srgbClr val="FFFFFF"/>
                </a:solidFill>
                <a:latin typeface="Calibri Light"/>
              </a:rPr>
              <a:t>From Reporting Factory to Business Partner</a:t>
            </a:r>
          </a:p>
          <a:p>
            <a:pPr algn="l">
              <a:lnSpc>
                <a:spcPct val="115000"/>
              </a:lnSpc>
              <a:spcAft>
                <a:spcPts val="600"/>
              </a:spcAft>
            </a:pPr>
            <a:r>
              <a:rPr sz="2400" b="0">
                <a:solidFill>
                  <a:srgbClr val="C9D6E4"/>
                </a:solidFill>
                <a:latin typeface="Calibri Light"/>
              </a:rPr>
              <a:t>A Finance &amp; Controlling Transformation Proposal</a:t>
            </a:r>
          </a:p>
        </p:txBody>
      </p:sp>
      <p:sp>
        <p:nvSpPr>
          <p:cNvPr id="6" name="Rectangle 5"/>
          <p:cNvSpPr/>
          <p:nvPr/>
        </p:nvSpPr>
        <p:spPr>
          <a:xfrm>
            <a:off x="896112" y="3977639"/>
            <a:ext cx="3108960" cy="2540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51960"/>
            <a:ext cx="10607040" cy="1005840"/>
          </a:xfrm>
          <a:prstGeom prst="rect">
            <a:avLst/>
          </a:prstGeom>
          <a:noFill/>
        </p:spPr>
        <p:txBody>
          <a:bodyPr wrap="square" anchor="t">
            <a:spAutoFit/>
          </a:bodyPr>
          <a:lstStyle/>
          <a:p>
            <a:pPr algn="l">
              <a:lnSpc>
                <a:spcPct val="125000"/>
              </a:lnSpc>
              <a:spcAft>
                <a:spcPts val="600"/>
              </a:spcAft>
            </a:pPr>
            <a:r>
              <a:rPr sz="1600" b="1">
                <a:solidFill>
                  <a:srgbClr val="C8A24B"/>
                </a:solidFill>
                <a:latin typeface="Calibri"/>
              </a:rPr>
              <a:t>Guiding idea:  </a:t>
            </a:r>
            <a:r>
              <a:rPr sz="1600" b="0">
                <a:solidFill>
                  <a:srgbClr val="FFFFFF"/>
                </a:solidFill>
                <a:latin typeface="Calibri"/>
              </a:rPr>
              <a:t>free Finance from producing reports, so it can help you make decisions —</a:t>
            </a:r>
          </a:p>
          <a:p>
            <a:pPr algn="l">
              <a:lnSpc>
                <a:spcPct val="125000"/>
              </a:lnSpc>
              <a:spcAft>
                <a:spcPts val="600"/>
              </a:spcAft>
            </a:pPr>
            <a:r>
              <a:rPr sz="1600" b="0">
                <a:solidFill>
                  <a:srgbClr val="FFFFFF"/>
                </a:solidFill>
                <a:latin typeface="Calibri"/>
              </a:rPr>
              <a:t>faster, more reliable, more forward-looking, at low cost and aligned with Group.</a:t>
            </a:r>
          </a:p>
        </p:txBody>
      </p:sp>
      <p:sp>
        <p:nvSpPr>
          <p:cNvPr id="8" name="TextBox 7"/>
          <p:cNvSpPr txBox="1"/>
          <p:nvPr/>
        </p:nvSpPr>
        <p:spPr>
          <a:xfrm>
            <a:off x="868680" y="5989320"/>
            <a:ext cx="10607040" cy="365760"/>
          </a:xfrm>
          <a:prstGeom prst="rect">
            <a:avLst/>
          </a:prstGeom>
          <a:noFill/>
        </p:spPr>
        <p:txBody>
          <a:bodyPr wrap="square" anchor="t">
            <a:spAutoFit/>
          </a:bodyPr>
          <a:lstStyle/>
          <a:p>
            <a:pPr algn="l">
              <a:lnSpc>
                <a:spcPct val="105000"/>
              </a:lnSpc>
              <a:spcAft>
                <a:spcPts val="600"/>
              </a:spcAft>
            </a:pPr>
            <a:r>
              <a:rPr sz="1200" b="0">
                <a:solidFill>
                  <a:srgbClr val="9FB4C9"/>
                </a:solidFill>
                <a:latin typeface="Calibri"/>
              </a:rPr>
              <a:t>Audience: CFO     |     Duration: 10–15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AGENDA</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What I will cover</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02</a:t>
            </a:r>
          </a:p>
        </p:txBody>
      </p:sp>
      <p:sp>
        <p:nvSpPr>
          <p:cNvPr id="11" name="Rectangle 10"/>
          <p:cNvSpPr/>
          <p:nvPr/>
        </p:nvSpPr>
        <p:spPr>
          <a:xfrm>
            <a:off x="640080" y="1417320"/>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81328"/>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01</a:t>
            </a:r>
          </a:p>
        </p:txBody>
      </p:sp>
      <p:sp>
        <p:nvSpPr>
          <p:cNvPr id="13" name="TextBox 12"/>
          <p:cNvSpPr txBox="1"/>
          <p:nvPr/>
        </p:nvSpPr>
        <p:spPr>
          <a:xfrm>
            <a:off x="1371600" y="1435608"/>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Diagnosis</a:t>
            </a:r>
          </a:p>
        </p:txBody>
      </p:sp>
      <p:sp>
        <p:nvSpPr>
          <p:cNvPr id="14" name="TextBox 13"/>
          <p:cNvSpPr txBox="1"/>
          <p:nvPr/>
        </p:nvSpPr>
        <p:spPr>
          <a:xfrm>
            <a:off x="1371600" y="1755648"/>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Where we stand and why</a:t>
            </a:r>
          </a:p>
        </p:txBody>
      </p:sp>
      <p:sp>
        <p:nvSpPr>
          <p:cNvPr id="15" name="Rectangle 14"/>
          <p:cNvSpPr/>
          <p:nvPr/>
        </p:nvSpPr>
        <p:spPr>
          <a:xfrm>
            <a:off x="640080" y="2167128"/>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231136"/>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02</a:t>
            </a:r>
          </a:p>
        </p:txBody>
      </p:sp>
      <p:sp>
        <p:nvSpPr>
          <p:cNvPr id="17" name="TextBox 16"/>
          <p:cNvSpPr txBox="1"/>
          <p:nvPr/>
        </p:nvSpPr>
        <p:spPr>
          <a:xfrm>
            <a:off x="1371600" y="2185416"/>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Guiding Principles</a:t>
            </a:r>
          </a:p>
        </p:txBody>
      </p:sp>
      <p:sp>
        <p:nvSpPr>
          <p:cNvPr id="18" name="TextBox 17"/>
          <p:cNvSpPr txBox="1"/>
          <p:nvPr/>
        </p:nvSpPr>
        <p:spPr>
          <a:xfrm>
            <a:off x="1371600" y="2505456"/>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How I will work</a:t>
            </a:r>
          </a:p>
        </p:txBody>
      </p:sp>
      <p:sp>
        <p:nvSpPr>
          <p:cNvPr id="19" name="Rectangle 18"/>
          <p:cNvSpPr/>
          <p:nvPr/>
        </p:nvSpPr>
        <p:spPr>
          <a:xfrm>
            <a:off x="640080" y="2916936"/>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980944"/>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03</a:t>
            </a:r>
          </a:p>
        </p:txBody>
      </p:sp>
      <p:sp>
        <p:nvSpPr>
          <p:cNvPr id="21" name="TextBox 20"/>
          <p:cNvSpPr txBox="1"/>
          <p:nvPr/>
        </p:nvSpPr>
        <p:spPr>
          <a:xfrm>
            <a:off x="1371600" y="2935224"/>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Vision</a:t>
            </a:r>
          </a:p>
        </p:txBody>
      </p:sp>
      <p:sp>
        <p:nvSpPr>
          <p:cNvPr id="22" name="TextBox 21"/>
          <p:cNvSpPr txBox="1"/>
          <p:nvPr/>
        </p:nvSpPr>
        <p:spPr>
          <a:xfrm>
            <a:off x="1371600" y="3255264"/>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Reporting factory → business partner</a:t>
            </a:r>
          </a:p>
        </p:txBody>
      </p:sp>
      <p:sp>
        <p:nvSpPr>
          <p:cNvPr id="23" name="Rectangle 22"/>
          <p:cNvSpPr/>
          <p:nvPr/>
        </p:nvSpPr>
        <p:spPr>
          <a:xfrm>
            <a:off x="640080" y="3666744"/>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730752"/>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04</a:t>
            </a:r>
          </a:p>
        </p:txBody>
      </p:sp>
      <p:sp>
        <p:nvSpPr>
          <p:cNvPr id="25" name="TextBox 24"/>
          <p:cNvSpPr txBox="1"/>
          <p:nvPr/>
        </p:nvSpPr>
        <p:spPr>
          <a:xfrm>
            <a:off x="1371600" y="3685032"/>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Priorities</a:t>
            </a:r>
          </a:p>
        </p:txBody>
      </p:sp>
      <p:sp>
        <p:nvSpPr>
          <p:cNvPr id="26" name="TextBox 25"/>
          <p:cNvSpPr txBox="1"/>
          <p:nvPr/>
        </p:nvSpPr>
        <p:spPr>
          <a:xfrm>
            <a:off x="1371600" y="4005072"/>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What comes first, and why</a:t>
            </a:r>
          </a:p>
        </p:txBody>
      </p:sp>
      <p:sp>
        <p:nvSpPr>
          <p:cNvPr id="27" name="Rectangle 26"/>
          <p:cNvSpPr/>
          <p:nvPr/>
        </p:nvSpPr>
        <p:spPr>
          <a:xfrm>
            <a:off x="640080" y="4416552"/>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480560"/>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05</a:t>
            </a:r>
          </a:p>
        </p:txBody>
      </p:sp>
      <p:sp>
        <p:nvSpPr>
          <p:cNvPr id="29" name="TextBox 28"/>
          <p:cNvSpPr txBox="1"/>
          <p:nvPr/>
        </p:nvSpPr>
        <p:spPr>
          <a:xfrm>
            <a:off x="1371600" y="4434840"/>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Roadmap</a:t>
            </a:r>
          </a:p>
        </p:txBody>
      </p:sp>
      <p:sp>
        <p:nvSpPr>
          <p:cNvPr id="30" name="TextBox 29"/>
          <p:cNvSpPr txBox="1"/>
          <p:nvPr/>
        </p:nvSpPr>
        <p:spPr>
          <a:xfrm>
            <a:off x="1371600" y="4754880"/>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Four phases to delivery</a:t>
            </a:r>
          </a:p>
        </p:txBody>
      </p:sp>
      <p:sp>
        <p:nvSpPr>
          <p:cNvPr id="31" name="Rectangle 30"/>
          <p:cNvSpPr/>
          <p:nvPr/>
        </p:nvSpPr>
        <p:spPr>
          <a:xfrm>
            <a:off x="640080" y="5166360"/>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230368"/>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06</a:t>
            </a:r>
          </a:p>
        </p:txBody>
      </p:sp>
      <p:sp>
        <p:nvSpPr>
          <p:cNvPr id="33" name="TextBox 32"/>
          <p:cNvSpPr txBox="1"/>
          <p:nvPr/>
        </p:nvSpPr>
        <p:spPr>
          <a:xfrm>
            <a:off x="1371600" y="5184648"/>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Intelligent Shared Platform</a:t>
            </a:r>
          </a:p>
        </p:txBody>
      </p:sp>
      <p:sp>
        <p:nvSpPr>
          <p:cNvPr id="34" name="TextBox 33"/>
          <p:cNvSpPr txBox="1"/>
          <p:nvPr/>
        </p:nvSpPr>
        <p:spPr>
          <a:xfrm>
            <a:off x="1371600" y="5504688"/>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Layered target architecture</a:t>
            </a:r>
          </a:p>
        </p:txBody>
      </p:sp>
      <p:sp>
        <p:nvSpPr>
          <p:cNvPr id="35" name="Rectangle 34"/>
          <p:cNvSpPr/>
          <p:nvPr/>
        </p:nvSpPr>
        <p:spPr>
          <a:xfrm>
            <a:off x="640080" y="5916168"/>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980176"/>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07</a:t>
            </a:r>
          </a:p>
        </p:txBody>
      </p:sp>
      <p:sp>
        <p:nvSpPr>
          <p:cNvPr id="37" name="TextBox 36"/>
          <p:cNvSpPr txBox="1"/>
          <p:nvPr/>
        </p:nvSpPr>
        <p:spPr>
          <a:xfrm>
            <a:off x="1371600" y="5934456"/>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Case A — One Version of Truth</a:t>
            </a:r>
          </a:p>
        </p:txBody>
      </p:sp>
      <p:sp>
        <p:nvSpPr>
          <p:cNvPr id="38" name="TextBox 37"/>
          <p:cNvSpPr txBox="1"/>
          <p:nvPr/>
        </p:nvSpPr>
        <p:spPr>
          <a:xfrm>
            <a:off x="1371600" y="6254496"/>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Aligning Net Sales across entities</a:t>
            </a:r>
          </a:p>
        </p:txBody>
      </p:sp>
      <p:sp>
        <p:nvSpPr>
          <p:cNvPr id="39" name="Rectangle 38"/>
          <p:cNvSpPr/>
          <p:nvPr/>
        </p:nvSpPr>
        <p:spPr>
          <a:xfrm>
            <a:off x="6263640" y="1417320"/>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1481328"/>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08</a:t>
            </a:r>
          </a:p>
        </p:txBody>
      </p:sp>
      <p:sp>
        <p:nvSpPr>
          <p:cNvPr id="41" name="TextBox 40"/>
          <p:cNvSpPr txBox="1"/>
          <p:nvPr/>
        </p:nvSpPr>
        <p:spPr>
          <a:xfrm>
            <a:off x="6995160" y="1435608"/>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Case B — Mapping &amp; Split Pipeline</a:t>
            </a:r>
          </a:p>
        </p:txBody>
      </p:sp>
      <p:sp>
        <p:nvSpPr>
          <p:cNvPr id="42" name="TextBox 41"/>
          <p:cNvSpPr txBox="1"/>
          <p:nvPr/>
        </p:nvSpPr>
        <p:spPr>
          <a:xfrm>
            <a:off x="6995160" y="1755648"/>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Dirty data in, clean table out</a:t>
            </a:r>
          </a:p>
        </p:txBody>
      </p:sp>
      <p:sp>
        <p:nvSpPr>
          <p:cNvPr id="43" name="Rectangle 42"/>
          <p:cNvSpPr/>
          <p:nvPr/>
        </p:nvSpPr>
        <p:spPr>
          <a:xfrm>
            <a:off x="6263640" y="2167128"/>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2231136"/>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09</a:t>
            </a:r>
          </a:p>
        </p:txBody>
      </p:sp>
      <p:sp>
        <p:nvSpPr>
          <p:cNvPr id="45" name="TextBox 44"/>
          <p:cNvSpPr txBox="1"/>
          <p:nvPr/>
        </p:nvSpPr>
        <p:spPr>
          <a:xfrm>
            <a:off x="6995160" y="2185416"/>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Real-time Reporting</a:t>
            </a:r>
          </a:p>
        </p:txBody>
      </p:sp>
      <p:sp>
        <p:nvSpPr>
          <p:cNvPr id="46" name="TextBox 45"/>
          <p:cNvSpPr txBox="1"/>
          <p:nvPr/>
        </p:nvSpPr>
        <p:spPr>
          <a:xfrm>
            <a:off x="6995160" y="2505456"/>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Achieving 'right-time' information</a:t>
            </a:r>
          </a:p>
        </p:txBody>
      </p:sp>
      <p:sp>
        <p:nvSpPr>
          <p:cNvPr id="47" name="Rectangle 46"/>
          <p:cNvSpPr/>
          <p:nvPr/>
        </p:nvSpPr>
        <p:spPr>
          <a:xfrm>
            <a:off x="6263640" y="2916936"/>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2980944"/>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10</a:t>
            </a:r>
          </a:p>
        </p:txBody>
      </p:sp>
      <p:sp>
        <p:nvSpPr>
          <p:cNvPr id="49" name="TextBox 48"/>
          <p:cNvSpPr txBox="1"/>
          <p:nvPr/>
        </p:nvSpPr>
        <p:spPr>
          <a:xfrm>
            <a:off x="6995160" y="2935224"/>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Delivery under Constraints</a:t>
            </a:r>
          </a:p>
        </p:txBody>
      </p:sp>
      <p:sp>
        <p:nvSpPr>
          <p:cNvPr id="50" name="TextBox 49"/>
          <p:cNvSpPr txBox="1"/>
          <p:nvPr/>
        </p:nvSpPr>
        <p:spPr>
          <a:xfrm>
            <a:off x="6995160" y="3255264"/>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Budget, IT and Group alignment</a:t>
            </a:r>
          </a:p>
        </p:txBody>
      </p:sp>
      <p:sp>
        <p:nvSpPr>
          <p:cNvPr id="51" name="Rectangle 50"/>
          <p:cNvSpPr/>
          <p:nvPr/>
        </p:nvSpPr>
        <p:spPr>
          <a:xfrm>
            <a:off x="6263640" y="3666744"/>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63640" y="3730752"/>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11</a:t>
            </a:r>
          </a:p>
        </p:txBody>
      </p:sp>
      <p:sp>
        <p:nvSpPr>
          <p:cNvPr id="53" name="TextBox 52"/>
          <p:cNvSpPr txBox="1"/>
          <p:nvPr/>
        </p:nvSpPr>
        <p:spPr>
          <a:xfrm>
            <a:off x="6995160" y="3685032"/>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Staying Ahead</a:t>
            </a:r>
          </a:p>
        </p:txBody>
      </p:sp>
      <p:sp>
        <p:nvSpPr>
          <p:cNvPr id="54" name="TextBox 53"/>
          <p:cNvSpPr txBox="1"/>
          <p:nvPr/>
        </p:nvSpPr>
        <p:spPr>
          <a:xfrm>
            <a:off x="6995160" y="4005072"/>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Keeping up as the role evolves</a:t>
            </a:r>
          </a:p>
        </p:txBody>
      </p:sp>
      <p:sp>
        <p:nvSpPr>
          <p:cNvPr id="55" name="Rectangle 54"/>
          <p:cNvSpPr/>
          <p:nvPr/>
        </p:nvSpPr>
        <p:spPr>
          <a:xfrm>
            <a:off x="6263640" y="4416552"/>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63640" y="4480560"/>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12</a:t>
            </a:r>
          </a:p>
        </p:txBody>
      </p:sp>
      <p:sp>
        <p:nvSpPr>
          <p:cNvPr id="57" name="TextBox 56"/>
          <p:cNvSpPr txBox="1"/>
          <p:nvPr/>
        </p:nvSpPr>
        <p:spPr>
          <a:xfrm>
            <a:off x="6995160" y="4434840"/>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Future Vision — AI-run Finance</a:t>
            </a:r>
          </a:p>
        </p:txBody>
      </p:sp>
      <p:sp>
        <p:nvSpPr>
          <p:cNvPr id="58" name="TextBox 57"/>
          <p:cNvSpPr txBox="1"/>
          <p:nvPr/>
        </p:nvSpPr>
        <p:spPr>
          <a:xfrm>
            <a:off x="6995160" y="4754880"/>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AI executes; people manage &amp; create</a:t>
            </a:r>
          </a:p>
        </p:txBody>
      </p:sp>
      <p:sp>
        <p:nvSpPr>
          <p:cNvPr id="59" name="Rectangle 58"/>
          <p:cNvSpPr/>
          <p:nvPr/>
        </p:nvSpPr>
        <p:spPr>
          <a:xfrm>
            <a:off x="6263640" y="5166360"/>
            <a:ext cx="56692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63640" y="5230368"/>
            <a:ext cx="566928" cy="457200"/>
          </a:xfrm>
          <a:prstGeom prst="rect">
            <a:avLst/>
          </a:prstGeom>
          <a:noFill/>
        </p:spPr>
        <p:txBody>
          <a:bodyPr wrap="square" anchor="t">
            <a:spAutoFit/>
          </a:bodyPr>
          <a:lstStyle/>
          <a:p>
            <a:pPr algn="ctr">
              <a:lnSpc>
                <a:spcPct val="105000"/>
              </a:lnSpc>
              <a:spcAft>
                <a:spcPts val="600"/>
              </a:spcAft>
            </a:pPr>
            <a:r>
              <a:rPr sz="1500" b="1">
                <a:solidFill>
                  <a:srgbClr val="FFFFFF"/>
                </a:solidFill>
                <a:latin typeface="Calibri"/>
              </a:rPr>
              <a:t>13</a:t>
            </a:r>
          </a:p>
        </p:txBody>
      </p:sp>
      <p:sp>
        <p:nvSpPr>
          <p:cNvPr id="61" name="TextBox 60"/>
          <p:cNvSpPr txBox="1"/>
          <p:nvPr/>
        </p:nvSpPr>
        <p:spPr>
          <a:xfrm>
            <a:off x="6995160" y="5184648"/>
            <a:ext cx="4480560" cy="365760"/>
          </a:xfrm>
          <a:prstGeom prst="rect">
            <a:avLst/>
          </a:prstGeom>
          <a:noFill/>
        </p:spPr>
        <p:txBody>
          <a:bodyPr wrap="square" anchor="t">
            <a:spAutoFit/>
          </a:bodyPr>
          <a:lstStyle/>
          <a:p>
            <a:pPr algn="l">
              <a:lnSpc>
                <a:spcPct val="105000"/>
              </a:lnSpc>
              <a:spcAft>
                <a:spcPts val="600"/>
              </a:spcAft>
            </a:pPr>
            <a:r>
              <a:rPr sz="1450" b="1">
                <a:solidFill>
                  <a:srgbClr val="1F3A5F"/>
                </a:solidFill>
                <a:latin typeface="Calibri"/>
              </a:rPr>
              <a:t>First 90 Days &amp; The Ask</a:t>
            </a:r>
          </a:p>
        </p:txBody>
      </p:sp>
      <p:sp>
        <p:nvSpPr>
          <p:cNvPr id="62" name="TextBox 61"/>
          <p:cNvSpPr txBox="1"/>
          <p:nvPr/>
        </p:nvSpPr>
        <p:spPr>
          <a:xfrm>
            <a:off x="6995160" y="5504688"/>
            <a:ext cx="4480560" cy="320040"/>
          </a:xfrm>
          <a:prstGeom prst="rect">
            <a:avLst/>
          </a:prstGeom>
          <a:noFill/>
        </p:spPr>
        <p:txBody>
          <a:bodyPr wrap="square" anchor="t">
            <a:spAutoFit/>
          </a:bodyPr>
          <a:lstStyle/>
          <a:p>
            <a:pPr algn="l">
              <a:lnSpc>
                <a:spcPct val="105000"/>
              </a:lnSpc>
              <a:spcAft>
                <a:spcPts val="600"/>
              </a:spcAft>
            </a:pPr>
            <a:r>
              <a:rPr sz="1100" b="0">
                <a:solidFill>
                  <a:srgbClr val="5A6B7B"/>
                </a:solidFill>
                <a:latin typeface="Calibri"/>
              </a:rPr>
              <a:t>Commitment and next 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1 · DIAGNOSIS</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The issue is not effort — it is the lack of a platform and standards</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03</a:t>
            </a:r>
          </a:p>
        </p:txBody>
      </p:sp>
      <p:sp>
        <p:nvSpPr>
          <p:cNvPr id="11" name="Rectangle 10"/>
          <p:cNvSpPr/>
          <p:nvPr/>
        </p:nvSpPr>
        <p:spPr>
          <a:xfrm>
            <a:off x="548640" y="1417320"/>
            <a:ext cx="5486400" cy="123444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417320"/>
            <a:ext cx="63500" cy="1234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545336"/>
            <a:ext cx="5120640" cy="502920"/>
          </a:xfrm>
          <a:prstGeom prst="rect">
            <a:avLst/>
          </a:prstGeom>
          <a:noFill/>
        </p:spPr>
        <p:txBody>
          <a:bodyPr wrap="square" anchor="t">
            <a:spAutoFit/>
          </a:bodyPr>
          <a:lstStyle/>
          <a:p>
            <a:pPr algn="l">
              <a:lnSpc>
                <a:spcPct val="105000"/>
              </a:lnSpc>
              <a:spcAft>
                <a:spcPts val="600"/>
              </a:spcAft>
            </a:pPr>
            <a:r>
              <a:rPr sz="1450" b="1">
                <a:solidFill>
                  <a:srgbClr val="B03A2E"/>
                </a:solidFill>
                <a:latin typeface="Calibri"/>
              </a:rPr>
              <a:t>▲  First report only on Day 4; close is too slow</a:t>
            </a:r>
          </a:p>
        </p:txBody>
      </p:sp>
      <p:sp>
        <p:nvSpPr>
          <p:cNvPr id="14" name="TextBox 13"/>
          <p:cNvSpPr txBox="1"/>
          <p:nvPr/>
        </p:nvSpPr>
        <p:spPr>
          <a:xfrm>
            <a:off x="749808" y="2039112"/>
            <a:ext cx="5120640" cy="548640"/>
          </a:xfrm>
          <a:prstGeom prst="rect">
            <a:avLst/>
          </a:prstGeom>
          <a:noFill/>
        </p:spPr>
        <p:txBody>
          <a:bodyPr wrap="square" anchor="t">
            <a:spAutoFit/>
          </a:bodyPr>
          <a:lstStyle/>
          <a:p>
            <a:pPr algn="l">
              <a:lnSpc>
                <a:spcPct val="105000"/>
              </a:lnSpc>
              <a:spcAft>
                <a:spcPts val="600"/>
              </a:spcAft>
            </a:pPr>
            <a:r>
              <a:rPr sz="1200" b="0">
                <a:solidFill>
                  <a:srgbClr val="5A6B7B"/>
                </a:solidFill>
                <a:latin typeface="Calibri"/>
              </a:rPr>
              <a:t>Root cause: SAP export → Excel rework → manual consolidation; no automated pipeline</a:t>
            </a:r>
          </a:p>
        </p:txBody>
      </p:sp>
      <p:sp>
        <p:nvSpPr>
          <p:cNvPr id="15" name="Rectangle 14"/>
          <p:cNvSpPr/>
          <p:nvPr/>
        </p:nvSpPr>
        <p:spPr>
          <a:xfrm>
            <a:off x="6263640" y="1417320"/>
            <a:ext cx="5486400" cy="123444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417320"/>
            <a:ext cx="63500" cy="1234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1545336"/>
            <a:ext cx="5120640" cy="502920"/>
          </a:xfrm>
          <a:prstGeom prst="rect">
            <a:avLst/>
          </a:prstGeom>
          <a:noFill/>
        </p:spPr>
        <p:txBody>
          <a:bodyPr wrap="square" anchor="t">
            <a:spAutoFit/>
          </a:bodyPr>
          <a:lstStyle/>
          <a:p>
            <a:pPr algn="l">
              <a:lnSpc>
                <a:spcPct val="105000"/>
              </a:lnSpc>
              <a:spcAft>
                <a:spcPts val="600"/>
              </a:spcAft>
            </a:pPr>
            <a:r>
              <a:rPr sz="1450" b="1">
                <a:solidFill>
                  <a:srgbClr val="B03A2E"/>
                </a:solidFill>
                <a:latin typeface="Calibri"/>
              </a:rPr>
              <a:t>▲  7 entities define figures differently</a:t>
            </a:r>
          </a:p>
        </p:txBody>
      </p:sp>
      <p:sp>
        <p:nvSpPr>
          <p:cNvPr id="18" name="TextBox 17"/>
          <p:cNvSpPr txBox="1"/>
          <p:nvPr/>
        </p:nvSpPr>
        <p:spPr>
          <a:xfrm>
            <a:off x="6464808" y="2039112"/>
            <a:ext cx="5120640" cy="548640"/>
          </a:xfrm>
          <a:prstGeom prst="rect">
            <a:avLst/>
          </a:prstGeom>
          <a:noFill/>
        </p:spPr>
        <p:txBody>
          <a:bodyPr wrap="square" anchor="t">
            <a:spAutoFit/>
          </a:bodyPr>
          <a:lstStyle/>
          <a:p>
            <a:pPr algn="l">
              <a:lnSpc>
                <a:spcPct val="105000"/>
              </a:lnSpc>
              <a:spcAft>
                <a:spcPts val="600"/>
              </a:spcAft>
            </a:pPr>
            <a:r>
              <a:rPr sz="1200" b="0">
                <a:solidFill>
                  <a:srgbClr val="5A6B7B"/>
                </a:solidFill>
                <a:latin typeface="Calibri"/>
              </a:rPr>
              <a:t>Root cause: no common KPI / account definitions or master-data governance; no single source of truth</a:t>
            </a:r>
          </a:p>
        </p:txBody>
      </p:sp>
      <p:sp>
        <p:nvSpPr>
          <p:cNvPr id="19" name="Rectangle 18"/>
          <p:cNvSpPr/>
          <p:nvPr/>
        </p:nvSpPr>
        <p:spPr>
          <a:xfrm>
            <a:off x="548640" y="2852928"/>
            <a:ext cx="5486400" cy="123444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52928"/>
            <a:ext cx="63500" cy="1234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2980944"/>
            <a:ext cx="5120640" cy="502920"/>
          </a:xfrm>
          <a:prstGeom prst="rect">
            <a:avLst/>
          </a:prstGeom>
          <a:noFill/>
        </p:spPr>
        <p:txBody>
          <a:bodyPr wrap="square" anchor="t">
            <a:spAutoFit/>
          </a:bodyPr>
          <a:lstStyle/>
          <a:p>
            <a:pPr algn="l">
              <a:lnSpc>
                <a:spcPct val="105000"/>
              </a:lnSpc>
              <a:spcAft>
                <a:spcPts val="600"/>
              </a:spcAft>
            </a:pPr>
            <a:r>
              <a:rPr sz="1450" b="1">
                <a:solidFill>
                  <a:srgbClr val="B03A2E"/>
                </a:solidFill>
                <a:latin typeface="Calibri"/>
              </a:rPr>
              <a:t>▲  Every follow-up question means redoing the work</a:t>
            </a:r>
          </a:p>
        </p:txBody>
      </p:sp>
      <p:sp>
        <p:nvSpPr>
          <p:cNvPr id="22" name="TextBox 21"/>
          <p:cNvSpPr txBox="1"/>
          <p:nvPr/>
        </p:nvSpPr>
        <p:spPr>
          <a:xfrm>
            <a:off x="749808" y="3474720"/>
            <a:ext cx="5120640" cy="548640"/>
          </a:xfrm>
          <a:prstGeom prst="rect">
            <a:avLst/>
          </a:prstGeom>
          <a:noFill/>
        </p:spPr>
        <p:txBody>
          <a:bodyPr wrap="square" anchor="t">
            <a:spAutoFit/>
          </a:bodyPr>
          <a:lstStyle/>
          <a:p>
            <a:pPr algn="l">
              <a:lnSpc>
                <a:spcPct val="105000"/>
              </a:lnSpc>
              <a:spcAft>
                <a:spcPts val="600"/>
              </a:spcAft>
            </a:pPr>
            <a:r>
              <a:rPr sz="1200" b="0">
                <a:solidFill>
                  <a:srgbClr val="5A6B7B"/>
                </a:solidFill>
                <a:latin typeface="Calibri"/>
              </a:rPr>
              <a:t>Root cause: reports are static Excel with no self-service drill-down</a:t>
            </a:r>
          </a:p>
        </p:txBody>
      </p:sp>
      <p:sp>
        <p:nvSpPr>
          <p:cNvPr id="23" name="Rectangle 22"/>
          <p:cNvSpPr/>
          <p:nvPr/>
        </p:nvSpPr>
        <p:spPr>
          <a:xfrm>
            <a:off x="6263640" y="2852928"/>
            <a:ext cx="5486400" cy="123444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2852928"/>
            <a:ext cx="63500" cy="1234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2980944"/>
            <a:ext cx="5120640" cy="502920"/>
          </a:xfrm>
          <a:prstGeom prst="rect">
            <a:avLst/>
          </a:prstGeom>
          <a:noFill/>
        </p:spPr>
        <p:txBody>
          <a:bodyPr wrap="square" anchor="t">
            <a:spAutoFit/>
          </a:bodyPr>
          <a:lstStyle/>
          <a:p>
            <a:pPr algn="l">
              <a:lnSpc>
                <a:spcPct val="105000"/>
              </a:lnSpc>
              <a:spcAft>
                <a:spcPts val="600"/>
              </a:spcAft>
            </a:pPr>
            <a:r>
              <a:rPr sz="1450" b="1">
                <a:solidFill>
                  <a:srgbClr val="B03A2E"/>
                </a:solidFill>
                <a:latin typeface="Calibri"/>
              </a:rPr>
              <a:t>▲  Forecast / plan do not reconcile with actuals</a:t>
            </a:r>
          </a:p>
        </p:txBody>
      </p:sp>
      <p:sp>
        <p:nvSpPr>
          <p:cNvPr id="26" name="TextBox 25"/>
          <p:cNvSpPr txBox="1"/>
          <p:nvPr/>
        </p:nvSpPr>
        <p:spPr>
          <a:xfrm>
            <a:off x="6464808" y="3474720"/>
            <a:ext cx="5120640" cy="548640"/>
          </a:xfrm>
          <a:prstGeom prst="rect">
            <a:avLst/>
          </a:prstGeom>
          <a:noFill/>
        </p:spPr>
        <p:txBody>
          <a:bodyPr wrap="square" anchor="t">
            <a:spAutoFit/>
          </a:bodyPr>
          <a:lstStyle/>
          <a:p>
            <a:pPr algn="l">
              <a:lnSpc>
                <a:spcPct val="105000"/>
              </a:lnSpc>
              <a:spcAft>
                <a:spcPts val="600"/>
              </a:spcAft>
            </a:pPr>
            <a:r>
              <a:rPr sz="1200" b="0">
                <a:solidFill>
                  <a:srgbClr val="5A6B7B"/>
                </a:solidFill>
                <a:latin typeface="Calibri"/>
              </a:rPr>
              <a:t>Root cause: plan, forecast and actuals live in separate spreadsheets; no unified data model</a:t>
            </a:r>
          </a:p>
        </p:txBody>
      </p:sp>
      <p:sp>
        <p:nvSpPr>
          <p:cNvPr id="27" name="TextBox 26"/>
          <p:cNvSpPr txBox="1"/>
          <p:nvPr/>
        </p:nvSpPr>
        <p:spPr>
          <a:xfrm>
            <a:off x="548640" y="4315968"/>
            <a:ext cx="10972800" cy="457200"/>
          </a:xfrm>
          <a:prstGeom prst="rect">
            <a:avLst/>
          </a:prstGeom>
          <a:noFill/>
        </p:spPr>
        <p:txBody>
          <a:bodyPr wrap="square" anchor="t">
            <a:spAutoFit/>
          </a:bodyPr>
          <a:lstStyle/>
          <a:p>
            <a:pPr algn="l">
              <a:lnSpc>
                <a:spcPct val="105000"/>
              </a:lnSpc>
              <a:spcAft>
                <a:spcPts val="600"/>
              </a:spcAft>
            </a:pPr>
            <a:r>
              <a:rPr sz="1500" b="1">
                <a:solidFill>
                  <a:srgbClr val="1F3A5F"/>
                </a:solidFill>
                <a:latin typeface="Calibri"/>
              </a:rPr>
              <a:t>In one line:  </a:t>
            </a:r>
            <a:r>
              <a:rPr sz="1500" b="0">
                <a:solidFill>
                  <a:srgbClr val="33383F"/>
                </a:solidFill>
                <a:latin typeface="Calibri"/>
              </a:rPr>
              <a:t>today we are slow, inconsistent, reactive — and backward-looking.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2 · APPROACH</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Five guiding principles</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04</a:t>
            </a:r>
          </a:p>
        </p:txBody>
      </p:sp>
      <p:sp>
        <p:nvSpPr>
          <p:cNvPr id="11" name="Rectangle 10"/>
          <p:cNvSpPr/>
          <p:nvPr/>
        </p:nvSpPr>
        <p:spPr>
          <a:xfrm>
            <a:off x="548640" y="1417320"/>
            <a:ext cx="3566160"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545336"/>
            <a:ext cx="3291840" cy="548640"/>
          </a:xfrm>
          <a:prstGeom prst="rect">
            <a:avLst/>
          </a:prstGeom>
          <a:noFill/>
        </p:spPr>
        <p:txBody>
          <a:bodyPr wrap="square" anchor="ctr">
            <a:spAutoFit/>
          </a:bodyPr>
          <a:lstStyle/>
          <a:p>
            <a:pPr algn="l">
              <a:lnSpc>
                <a:spcPct val="105000"/>
              </a:lnSpc>
              <a:spcAft>
                <a:spcPts val="600"/>
              </a:spcAft>
            </a:pPr>
            <a:r>
              <a:rPr sz="1500" b="1">
                <a:solidFill>
                  <a:srgbClr val="FFFFFF"/>
                </a:solidFill>
                <a:latin typeface="Calibri"/>
              </a:rPr>
              <a:t>1 · Single source of truth</a:t>
            </a:r>
          </a:p>
        </p:txBody>
      </p:sp>
      <p:sp>
        <p:nvSpPr>
          <p:cNvPr id="13" name="Rectangle 12"/>
          <p:cNvSpPr/>
          <p:nvPr/>
        </p:nvSpPr>
        <p:spPr>
          <a:xfrm>
            <a:off x="4251960" y="1417320"/>
            <a:ext cx="736092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545336"/>
            <a:ext cx="7040880" cy="548640"/>
          </a:xfrm>
          <a:prstGeom prst="rect">
            <a:avLst/>
          </a:prstGeom>
          <a:noFill/>
        </p:spPr>
        <p:txBody>
          <a:bodyPr wrap="square" anchor="ctr">
            <a:spAutoFit/>
          </a:bodyPr>
          <a:lstStyle/>
          <a:p>
            <a:pPr algn="l">
              <a:lnSpc>
                <a:spcPct val="105000"/>
              </a:lnSpc>
              <a:spcAft>
                <a:spcPts val="600"/>
              </a:spcAft>
            </a:pPr>
            <a:r>
              <a:rPr sz="1350" b="0">
                <a:solidFill>
                  <a:srgbClr val="33383F"/>
                </a:solidFill>
                <a:latin typeface="Calibri"/>
              </a:rPr>
              <a:t>SAP is the one system of record; every report comes from the same data model</a:t>
            </a:r>
          </a:p>
        </p:txBody>
      </p:sp>
      <p:sp>
        <p:nvSpPr>
          <p:cNvPr id="15" name="Rectangle 14"/>
          <p:cNvSpPr/>
          <p:nvPr/>
        </p:nvSpPr>
        <p:spPr>
          <a:xfrm>
            <a:off x="548640" y="2331720"/>
            <a:ext cx="3566160"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59736"/>
            <a:ext cx="3291840" cy="548640"/>
          </a:xfrm>
          <a:prstGeom prst="rect">
            <a:avLst/>
          </a:prstGeom>
          <a:noFill/>
        </p:spPr>
        <p:txBody>
          <a:bodyPr wrap="square" anchor="ctr">
            <a:spAutoFit/>
          </a:bodyPr>
          <a:lstStyle/>
          <a:p>
            <a:pPr algn="l">
              <a:lnSpc>
                <a:spcPct val="105000"/>
              </a:lnSpc>
              <a:spcAft>
                <a:spcPts val="600"/>
              </a:spcAft>
            </a:pPr>
            <a:r>
              <a:rPr sz="1500" b="1">
                <a:solidFill>
                  <a:srgbClr val="FFFFFF"/>
                </a:solidFill>
                <a:latin typeface="Calibri"/>
              </a:rPr>
              <a:t>2 · Define first, then automate</a:t>
            </a:r>
          </a:p>
        </p:txBody>
      </p:sp>
      <p:sp>
        <p:nvSpPr>
          <p:cNvPr id="17" name="Rectangle 16"/>
          <p:cNvSpPr/>
          <p:nvPr/>
        </p:nvSpPr>
        <p:spPr>
          <a:xfrm>
            <a:off x="4251960" y="2331720"/>
            <a:ext cx="736092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2459736"/>
            <a:ext cx="7040880" cy="548640"/>
          </a:xfrm>
          <a:prstGeom prst="rect">
            <a:avLst/>
          </a:prstGeom>
          <a:noFill/>
        </p:spPr>
        <p:txBody>
          <a:bodyPr wrap="square" anchor="ctr">
            <a:spAutoFit/>
          </a:bodyPr>
          <a:lstStyle/>
          <a:p>
            <a:pPr algn="l">
              <a:lnSpc>
                <a:spcPct val="105000"/>
              </a:lnSpc>
              <a:spcAft>
                <a:spcPts val="600"/>
              </a:spcAft>
            </a:pPr>
            <a:r>
              <a:rPr sz="1350" b="0">
                <a:solidFill>
                  <a:srgbClr val="33383F"/>
                </a:solidFill>
                <a:latin typeface="Calibri"/>
              </a:rPr>
              <a:t>Align KPI definitions before tooling — otherwise you automate errors</a:t>
            </a:r>
          </a:p>
        </p:txBody>
      </p:sp>
      <p:sp>
        <p:nvSpPr>
          <p:cNvPr id="19" name="Rectangle 18"/>
          <p:cNvSpPr/>
          <p:nvPr/>
        </p:nvSpPr>
        <p:spPr>
          <a:xfrm>
            <a:off x="548640" y="3246120"/>
            <a:ext cx="3566160"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374136"/>
            <a:ext cx="3291840" cy="548640"/>
          </a:xfrm>
          <a:prstGeom prst="rect">
            <a:avLst/>
          </a:prstGeom>
          <a:noFill/>
        </p:spPr>
        <p:txBody>
          <a:bodyPr wrap="square" anchor="ctr">
            <a:spAutoFit/>
          </a:bodyPr>
          <a:lstStyle/>
          <a:p>
            <a:pPr algn="l">
              <a:lnSpc>
                <a:spcPct val="105000"/>
              </a:lnSpc>
              <a:spcAft>
                <a:spcPts val="600"/>
              </a:spcAft>
            </a:pPr>
            <a:r>
              <a:rPr sz="1500" b="1">
                <a:solidFill>
                  <a:srgbClr val="FFFFFF"/>
                </a:solidFill>
                <a:latin typeface="Calibri"/>
              </a:rPr>
              <a:t>3 · People analyze, machines move data</a:t>
            </a:r>
          </a:p>
        </p:txBody>
      </p:sp>
      <p:sp>
        <p:nvSpPr>
          <p:cNvPr id="21" name="Rectangle 20"/>
          <p:cNvSpPr/>
          <p:nvPr/>
        </p:nvSpPr>
        <p:spPr>
          <a:xfrm>
            <a:off x="4251960" y="3246120"/>
            <a:ext cx="736092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3374136"/>
            <a:ext cx="7040880" cy="548640"/>
          </a:xfrm>
          <a:prstGeom prst="rect">
            <a:avLst/>
          </a:prstGeom>
          <a:noFill/>
        </p:spPr>
        <p:txBody>
          <a:bodyPr wrap="square" anchor="ctr">
            <a:spAutoFit/>
          </a:bodyPr>
          <a:lstStyle/>
          <a:p>
            <a:pPr algn="l">
              <a:lnSpc>
                <a:spcPct val="105000"/>
              </a:lnSpc>
              <a:spcAft>
                <a:spcPts val="600"/>
              </a:spcAft>
            </a:pPr>
            <a:r>
              <a:rPr sz="1350" b="0">
                <a:solidFill>
                  <a:srgbClr val="33383F"/>
                </a:solidFill>
                <a:latin typeface="Calibri"/>
              </a:rPr>
              <a:t>Hand manual consolidation to the system; people focus on insight</a:t>
            </a:r>
          </a:p>
        </p:txBody>
      </p:sp>
      <p:sp>
        <p:nvSpPr>
          <p:cNvPr id="23" name="Rectangle 22"/>
          <p:cNvSpPr/>
          <p:nvPr/>
        </p:nvSpPr>
        <p:spPr>
          <a:xfrm>
            <a:off x="548640" y="4160520"/>
            <a:ext cx="3566160"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288536"/>
            <a:ext cx="3291840" cy="548640"/>
          </a:xfrm>
          <a:prstGeom prst="rect">
            <a:avLst/>
          </a:prstGeom>
          <a:noFill/>
        </p:spPr>
        <p:txBody>
          <a:bodyPr wrap="square" anchor="ctr">
            <a:spAutoFit/>
          </a:bodyPr>
          <a:lstStyle/>
          <a:p>
            <a:pPr algn="l">
              <a:lnSpc>
                <a:spcPct val="105000"/>
              </a:lnSpc>
              <a:spcAft>
                <a:spcPts val="600"/>
              </a:spcAft>
            </a:pPr>
            <a:r>
              <a:rPr sz="1500" b="1">
                <a:solidFill>
                  <a:srgbClr val="FFFFFF"/>
                </a:solidFill>
                <a:latin typeface="Calibri"/>
              </a:rPr>
              <a:t>4 · Self-service</a:t>
            </a:r>
          </a:p>
        </p:txBody>
      </p:sp>
      <p:sp>
        <p:nvSpPr>
          <p:cNvPr id="25" name="Rectangle 24"/>
          <p:cNvSpPr/>
          <p:nvPr/>
        </p:nvSpPr>
        <p:spPr>
          <a:xfrm>
            <a:off x="4251960" y="4160520"/>
            <a:ext cx="736092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4288536"/>
            <a:ext cx="7040880" cy="548640"/>
          </a:xfrm>
          <a:prstGeom prst="rect">
            <a:avLst/>
          </a:prstGeom>
          <a:noFill/>
        </p:spPr>
        <p:txBody>
          <a:bodyPr wrap="square" anchor="ctr">
            <a:spAutoFit/>
          </a:bodyPr>
          <a:lstStyle/>
          <a:p>
            <a:pPr algn="l">
              <a:lnSpc>
                <a:spcPct val="105000"/>
              </a:lnSpc>
              <a:spcAft>
                <a:spcPts val="600"/>
              </a:spcAft>
            </a:pPr>
            <a:r>
              <a:rPr sz="1350" b="0">
                <a:solidFill>
                  <a:srgbClr val="33383F"/>
                </a:solidFill>
                <a:latin typeface="Calibri"/>
              </a:rPr>
              <a:t>Management drills down on its own; follow-ups no longer create manual work</a:t>
            </a:r>
          </a:p>
        </p:txBody>
      </p:sp>
      <p:sp>
        <p:nvSpPr>
          <p:cNvPr id="27" name="Rectangle 26"/>
          <p:cNvSpPr/>
          <p:nvPr/>
        </p:nvSpPr>
        <p:spPr>
          <a:xfrm>
            <a:off x="548640" y="5074920"/>
            <a:ext cx="3566160"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5202936"/>
            <a:ext cx="3291840" cy="548640"/>
          </a:xfrm>
          <a:prstGeom prst="rect">
            <a:avLst/>
          </a:prstGeom>
          <a:noFill/>
        </p:spPr>
        <p:txBody>
          <a:bodyPr wrap="square" anchor="ctr">
            <a:spAutoFit/>
          </a:bodyPr>
          <a:lstStyle/>
          <a:p>
            <a:pPr algn="l">
              <a:lnSpc>
                <a:spcPct val="105000"/>
              </a:lnSpc>
              <a:spcAft>
                <a:spcPts val="600"/>
              </a:spcAft>
            </a:pPr>
            <a:r>
              <a:rPr sz="1500" b="1">
                <a:solidFill>
                  <a:srgbClr val="FFFFFF"/>
                </a:solidFill>
                <a:latin typeface="Calibri"/>
              </a:rPr>
              <a:t>5 · Pragmatic, small steps</a:t>
            </a:r>
          </a:p>
        </p:txBody>
      </p:sp>
      <p:sp>
        <p:nvSpPr>
          <p:cNvPr id="29" name="Rectangle 28"/>
          <p:cNvSpPr/>
          <p:nvPr/>
        </p:nvSpPr>
        <p:spPr>
          <a:xfrm>
            <a:off x="4251960" y="5074920"/>
            <a:ext cx="736092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4840" y="5202936"/>
            <a:ext cx="7040880" cy="548640"/>
          </a:xfrm>
          <a:prstGeom prst="rect">
            <a:avLst/>
          </a:prstGeom>
          <a:noFill/>
        </p:spPr>
        <p:txBody>
          <a:bodyPr wrap="square" anchor="ctr">
            <a:spAutoFit/>
          </a:bodyPr>
          <a:lstStyle/>
          <a:p>
            <a:pPr algn="l">
              <a:lnSpc>
                <a:spcPct val="105000"/>
              </a:lnSpc>
              <a:spcAft>
                <a:spcPts val="600"/>
              </a:spcAft>
            </a:pPr>
            <a:r>
              <a:rPr sz="1350" b="0">
                <a:solidFill>
                  <a:srgbClr val="33383F"/>
                </a:solidFill>
                <a:latin typeface="Calibri"/>
              </a:rPr>
              <a:t>Start with existing licenses for quick wins; trade results for budget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3 · VISION</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From a reporting factory to a business decision partner</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05</a:t>
            </a:r>
          </a:p>
        </p:txBody>
      </p:sp>
      <p:sp>
        <p:nvSpPr>
          <p:cNvPr id="11" name="Rectangle 10"/>
          <p:cNvSpPr/>
          <p:nvPr/>
        </p:nvSpPr>
        <p:spPr>
          <a:xfrm>
            <a:off x="731520" y="2011680"/>
            <a:ext cx="4572000" cy="283464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011680"/>
            <a:ext cx="4572000" cy="65836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112264"/>
            <a:ext cx="4572000" cy="50292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TODAY · Reporting Factory</a:t>
            </a:r>
          </a:p>
        </p:txBody>
      </p:sp>
      <p:sp>
        <p:nvSpPr>
          <p:cNvPr id="14" name="TextBox 13"/>
          <p:cNvSpPr txBox="1"/>
          <p:nvPr/>
        </p:nvSpPr>
        <p:spPr>
          <a:xfrm>
            <a:off x="1051560" y="2880360"/>
            <a:ext cx="4023360" cy="1828800"/>
          </a:xfrm>
          <a:prstGeom prst="rect">
            <a:avLst/>
          </a:prstGeom>
          <a:noFill/>
        </p:spPr>
        <p:txBody>
          <a:bodyPr wrap="square">
            <a:spAutoFit/>
          </a:bodyPr>
          <a:lstStyle/>
          <a:p>
            <a:pPr>
              <a:lnSpc>
                <a:spcPct val="108000"/>
              </a:lnSpc>
              <a:spcAft>
                <a:spcPts val="1200"/>
              </a:spcAft>
            </a:pPr>
            <a:r>
              <a:rPr sz="1500" b="1">
                <a:solidFill>
                  <a:srgbClr val="33383F"/>
                </a:solidFill>
                <a:latin typeface="Calibri"/>
              </a:rPr>
              <a:t>▪   First report on Day 4</a:t>
            </a:r>
          </a:p>
          <a:p>
            <a:pPr>
              <a:lnSpc>
                <a:spcPct val="108000"/>
              </a:lnSpc>
              <a:spcAft>
                <a:spcPts val="1200"/>
              </a:spcAft>
            </a:pPr>
            <a:r>
              <a:rPr sz="1500" b="1">
                <a:solidFill>
                  <a:srgbClr val="33383F"/>
                </a:solidFill>
                <a:latin typeface="Calibri"/>
              </a:rPr>
              <a:t>▪   Heavy manual consolidation</a:t>
            </a:r>
          </a:p>
          <a:p>
            <a:pPr>
              <a:lnSpc>
                <a:spcPct val="108000"/>
              </a:lnSpc>
              <a:spcAft>
                <a:spcPts val="1200"/>
              </a:spcAft>
            </a:pPr>
            <a:r>
              <a:rPr sz="1500" b="1">
                <a:solidFill>
                  <a:srgbClr val="33383F"/>
                </a:solidFill>
                <a:latin typeface="Calibri"/>
              </a:rPr>
              <a:t>▪   Inconsistent · reactive</a:t>
            </a:r>
          </a:p>
          <a:p>
            <a:pPr>
              <a:lnSpc>
                <a:spcPct val="108000"/>
              </a:lnSpc>
              <a:spcAft>
                <a:spcPts val="1200"/>
              </a:spcAft>
            </a:pPr>
            <a:r>
              <a:rPr sz="1500" b="1">
                <a:solidFill>
                  <a:srgbClr val="33383F"/>
                </a:solidFill>
                <a:latin typeface="Calibri"/>
              </a:rPr>
              <a:t>▪   Backward-looking</a:t>
            </a:r>
          </a:p>
        </p:txBody>
      </p:sp>
      <p:sp>
        <p:nvSpPr>
          <p:cNvPr id="15" name="TextBox 14"/>
          <p:cNvSpPr txBox="1"/>
          <p:nvPr/>
        </p:nvSpPr>
        <p:spPr>
          <a:xfrm>
            <a:off x="5440680" y="3017520"/>
            <a:ext cx="1280160" cy="914400"/>
          </a:xfrm>
          <a:prstGeom prst="rect">
            <a:avLst/>
          </a:prstGeom>
          <a:noFill/>
        </p:spPr>
        <p:txBody>
          <a:bodyPr wrap="square" anchor="t">
            <a:spAutoFit/>
          </a:bodyPr>
          <a:lstStyle/>
          <a:p>
            <a:pPr algn="ctr">
              <a:lnSpc>
                <a:spcPct val="105000"/>
              </a:lnSpc>
              <a:spcAft>
                <a:spcPts val="600"/>
              </a:spcAft>
            </a:pPr>
            <a:r>
              <a:rPr sz="4800" b="1">
                <a:solidFill>
                  <a:srgbClr val="2E6DA4"/>
                </a:solidFill>
                <a:latin typeface="Calibri"/>
              </a:rPr>
              <a:t>➜</a:t>
            </a:r>
          </a:p>
        </p:txBody>
      </p:sp>
      <p:sp>
        <p:nvSpPr>
          <p:cNvPr id="16" name="Rectangle 15"/>
          <p:cNvSpPr/>
          <p:nvPr/>
        </p:nvSpPr>
        <p:spPr>
          <a:xfrm>
            <a:off x="6903720" y="2011680"/>
            <a:ext cx="4572000" cy="283464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03720" y="2011680"/>
            <a:ext cx="4572000" cy="658368"/>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2112264"/>
            <a:ext cx="4572000" cy="50292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TARGET · Business Partner</a:t>
            </a:r>
          </a:p>
        </p:txBody>
      </p:sp>
      <p:sp>
        <p:nvSpPr>
          <p:cNvPr id="19" name="TextBox 18"/>
          <p:cNvSpPr txBox="1"/>
          <p:nvPr/>
        </p:nvSpPr>
        <p:spPr>
          <a:xfrm>
            <a:off x="7223760" y="2880360"/>
            <a:ext cx="4023360" cy="1828800"/>
          </a:xfrm>
          <a:prstGeom prst="rect">
            <a:avLst/>
          </a:prstGeom>
          <a:noFill/>
        </p:spPr>
        <p:txBody>
          <a:bodyPr wrap="square">
            <a:spAutoFit/>
          </a:bodyPr>
          <a:lstStyle/>
          <a:p>
            <a:pPr>
              <a:lnSpc>
                <a:spcPct val="108000"/>
              </a:lnSpc>
              <a:spcAft>
                <a:spcPts val="1200"/>
              </a:spcAft>
            </a:pPr>
            <a:r>
              <a:rPr sz="1500" b="1">
                <a:solidFill>
                  <a:srgbClr val="1F3A5F"/>
                </a:solidFill>
                <a:latin typeface="Calibri"/>
              </a:rPr>
              <a:t>▪   Near-real-time · one truth</a:t>
            </a:r>
          </a:p>
          <a:p>
            <a:pPr>
              <a:lnSpc>
                <a:spcPct val="108000"/>
              </a:lnSpc>
              <a:spcAft>
                <a:spcPts val="1200"/>
              </a:spcAft>
            </a:pPr>
            <a:r>
              <a:rPr sz="1500" b="1">
                <a:solidFill>
                  <a:srgbClr val="1F3A5F"/>
                </a:solidFill>
                <a:latin typeface="Calibri"/>
              </a:rPr>
              <a:t>▪   Automated pipeline</a:t>
            </a:r>
          </a:p>
          <a:p>
            <a:pPr>
              <a:lnSpc>
                <a:spcPct val="108000"/>
              </a:lnSpc>
              <a:spcAft>
                <a:spcPts val="1200"/>
              </a:spcAft>
            </a:pPr>
            <a:r>
              <a:rPr sz="1500" b="1">
                <a:solidFill>
                  <a:srgbClr val="1F3A5F"/>
                </a:solidFill>
                <a:latin typeface="Calibri"/>
              </a:rPr>
              <a:t>▪   Self-service · proactive</a:t>
            </a:r>
          </a:p>
          <a:p>
            <a:pPr>
              <a:lnSpc>
                <a:spcPct val="108000"/>
              </a:lnSpc>
              <a:spcAft>
                <a:spcPts val="1200"/>
              </a:spcAft>
            </a:pPr>
            <a:r>
              <a:rPr sz="1500" b="1">
                <a:solidFill>
                  <a:srgbClr val="1F3A5F"/>
                </a:solidFill>
                <a:latin typeface="Calibri"/>
              </a:rPr>
              <a:t>▪   Forward-looking · rolling forecast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4 · PRIORITIES</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What comes first, and why</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06</a:t>
            </a:r>
          </a:p>
        </p:txBody>
      </p:sp>
      <p:sp>
        <p:nvSpPr>
          <p:cNvPr id="11" name="TextBox 10"/>
          <p:cNvSpPr txBox="1"/>
          <p:nvPr/>
        </p:nvSpPr>
        <p:spPr>
          <a:xfrm>
            <a:off x="640080" y="1463040"/>
            <a:ext cx="10972800" cy="4572000"/>
          </a:xfrm>
          <a:prstGeom prst="rect">
            <a:avLst/>
          </a:prstGeom>
          <a:noFill/>
        </p:spPr>
        <p:txBody>
          <a:bodyPr wrap="square">
            <a:spAutoFit/>
          </a:bodyPr>
          <a:lstStyle/>
          <a:p>
            <a:pPr>
              <a:lnSpc>
                <a:spcPct val="108000"/>
              </a:lnSpc>
              <a:spcAft>
                <a:spcPts val="1000"/>
              </a:spcAft>
            </a:pPr>
            <a:r>
              <a:rPr sz="1600" b="1">
                <a:solidFill>
                  <a:srgbClr val="1F3A5F"/>
                </a:solidFill>
                <a:latin typeface="Calibri"/>
              </a:rPr>
              <a:t>▪   First: align KPI / account definitions (a data dictionary)</a:t>
            </a:r>
          </a:p>
          <a:p>
            <a:pPr>
              <a:lnSpc>
                <a:spcPct val="108000"/>
              </a:lnSpc>
              <a:spcAft>
                <a:spcPts val="1000"/>
              </a:spcAft>
            </a:pPr>
            <a:r>
              <a:rPr sz="1450" b="0">
                <a:solidFill>
                  <a:srgbClr val="5A6B7B"/>
                </a:solidFill>
                <a:latin typeface="Calibri"/>
              </a:rPr>
              <a:t>        –   Zero cost, highest value; it is the foundation for automation and real-time. Without it, automation only produces errors faster.</a:t>
            </a:r>
          </a:p>
          <a:p>
            <a:pPr>
              <a:lnSpc>
                <a:spcPct val="108000"/>
              </a:lnSpc>
              <a:spcAft>
                <a:spcPts val="1000"/>
              </a:spcAft>
            </a:pPr>
            <a:r>
              <a:rPr sz="1600" b="1">
                <a:solidFill>
                  <a:srgbClr val="1F3A5F"/>
                </a:solidFill>
                <a:latin typeface="Calibri"/>
              </a:rPr>
              <a:t>▪   Next: automate the current consolidation (Power Query)</a:t>
            </a:r>
          </a:p>
          <a:p>
            <a:pPr>
              <a:lnSpc>
                <a:spcPct val="108000"/>
              </a:lnSpc>
              <a:spcAft>
                <a:spcPts val="1000"/>
              </a:spcAft>
            </a:pPr>
            <a:r>
              <a:rPr sz="1450" b="0">
                <a:solidFill>
                  <a:srgbClr val="5A6B7B"/>
                </a:solidFill>
                <a:latin typeface="Calibri"/>
              </a:rPr>
              <a:t>        –   Immediate impact — first report from Day 4 to Day 2, with no IT and no spend.</a:t>
            </a:r>
          </a:p>
          <a:p>
            <a:pPr>
              <a:lnSpc>
                <a:spcPct val="108000"/>
              </a:lnSpc>
              <a:spcAft>
                <a:spcPts val="1000"/>
              </a:spcAft>
            </a:pPr>
            <a:r>
              <a:rPr sz="1600" b="1">
                <a:solidFill>
                  <a:srgbClr val="1F3A5F"/>
                </a:solidFill>
                <a:latin typeface="Calibri"/>
              </a:rPr>
              <a:t>▪   Then: a central data model = single source of truth</a:t>
            </a:r>
          </a:p>
          <a:p>
            <a:pPr>
              <a:lnSpc>
                <a:spcPct val="108000"/>
              </a:lnSpc>
              <a:spcAft>
                <a:spcPts val="1000"/>
              </a:spcAft>
            </a:pPr>
            <a:r>
              <a:rPr sz="1450" b="0">
                <a:solidFill>
                  <a:srgbClr val="5A6B7B"/>
                </a:solidFill>
                <a:latin typeface="Calibri"/>
              </a:rPr>
              <a:t>        –   Map each entity's local accounts to Group accounts; end 'whose spreadsheet wins'.</a:t>
            </a:r>
          </a:p>
          <a:p>
            <a:pPr>
              <a:lnSpc>
                <a:spcPct val="108000"/>
              </a:lnSpc>
              <a:spcAft>
                <a:spcPts val="1000"/>
              </a:spcAft>
            </a:pPr>
            <a:r>
              <a:rPr sz="1600" b="1">
                <a:solidFill>
                  <a:srgbClr val="1F3A5F"/>
                </a:solidFill>
                <a:latin typeface="Calibri"/>
              </a:rPr>
              <a:t>▪   Finally: integrate planning &amp; forecasting + forward analytics</a:t>
            </a:r>
          </a:p>
          <a:p>
            <a:pPr>
              <a:lnSpc>
                <a:spcPct val="108000"/>
              </a:lnSpc>
              <a:spcAft>
                <a:spcPts val="1000"/>
              </a:spcAft>
            </a:pPr>
            <a:r>
              <a:rPr sz="1450" b="0">
                <a:solidFill>
                  <a:srgbClr val="5A6B7B"/>
                </a:solidFill>
                <a:latin typeface="Calibri"/>
              </a:rPr>
              <a:t>        –   Actuals / budget / forecast in one view; rolling forecast and scenario modelling.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5 · ROADMAP</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Stabilize → Standardize → Automate → Elevate</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07</a:t>
            </a:r>
          </a:p>
        </p:txBody>
      </p:sp>
      <p:sp>
        <p:nvSpPr>
          <p:cNvPr id="11" name="Right Arrow 10"/>
          <p:cNvSpPr/>
          <p:nvPr/>
        </p:nvSpPr>
        <p:spPr>
          <a:xfrm>
            <a:off x="777240" y="3584448"/>
            <a:ext cx="10607040" cy="310896"/>
          </a:xfrm>
          <a:prstGeom prst="rightArrow">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602736"/>
            <a:ext cx="2011680" cy="274320"/>
          </a:xfrm>
          <a:prstGeom prst="rect">
            <a:avLst/>
          </a:prstGeom>
          <a:noFill/>
        </p:spPr>
        <p:txBody>
          <a:bodyPr wrap="square" anchor="t">
            <a:spAutoFit/>
          </a:bodyPr>
          <a:lstStyle/>
          <a:p>
            <a:pPr algn="l">
              <a:lnSpc>
                <a:spcPct val="105000"/>
              </a:lnSpc>
              <a:spcAft>
                <a:spcPts val="600"/>
              </a:spcAft>
            </a:pPr>
            <a:r>
              <a:rPr sz="900" b="1">
                <a:solidFill>
                  <a:srgbClr val="5A6B7B"/>
                </a:solidFill>
                <a:latin typeface="Calibri"/>
              </a:rPr>
              <a:t>MATURITY  ➜</a:t>
            </a:r>
          </a:p>
        </p:txBody>
      </p:sp>
      <p:sp>
        <p:nvSpPr>
          <p:cNvPr id="13" name="Rectangle 12"/>
          <p:cNvSpPr/>
          <p:nvPr/>
        </p:nvSpPr>
        <p:spPr>
          <a:xfrm>
            <a:off x="1398270" y="2834640"/>
            <a:ext cx="38100" cy="822960"/>
          </a:xfrm>
          <a:prstGeom prst="rect">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61288" y="3483864"/>
            <a:ext cx="512064" cy="512064"/>
          </a:xfrm>
          <a:prstGeom prst="ellipse">
            <a:avLst/>
          </a:prstGeom>
          <a:solidFill>
            <a:srgbClr val="5A6B7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3538728"/>
            <a:ext cx="512064" cy="36576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0</a:t>
            </a:r>
          </a:p>
        </p:txBody>
      </p:sp>
      <p:sp>
        <p:nvSpPr>
          <p:cNvPr id="16" name="Rectangle 15"/>
          <p:cNvSpPr/>
          <p:nvPr/>
        </p:nvSpPr>
        <p:spPr>
          <a:xfrm>
            <a:off x="310896" y="1371600"/>
            <a:ext cx="2212848" cy="566928"/>
          </a:xfrm>
          <a:prstGeom prst="rect">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 y="1417320"/>
            <a:ext cx="1993392" cy="274320"/>
          </a:xfrm>
          <a:prstGeom prst="rect">
            <a:avLst/>
          </a:prstGeom>
          <a:noFill/>
        </p:spPr>
        <p:txBody>
          <a:bodyPr wrap="square" anchor="t">
            <a:spAutoFit/>
          </a:bodyPr>
          <a:lstStyle/>
          <a:p>
            <a:pPr algn="l">
              <a:lnSpc>
                <a:spcPct val="105000"/>
              </a:lnSpc>
              <a:spcAft>
                <a:spcPts val="600"/>
              </a:spcAft>
            </a:pPr>
            <a:r>
              <a:rPr sz="1200" b="1">
                <a:solidFill>
                  <a:srgbClr val="FFFFFF"/>
                </a:solidFill>
                <a:latin typeface="Calibri"/>
              </a:rPr>
              <a:t>Phase 0 · Assess</a:t>
            </a:r>
          </a:p>
        </p:txBody>
      </p:sp>
      <p:sp>
        <p:nvSpPr>
          <p:cNvPr id="18" name="TextBox 17"/>
          <p:cNvSpPr txBox="1"/>
          <p:nvPr/>
        </p:nvSpPr>
        <p:spPr>
          <a:xfrm>
            <a:off x="420624" y="1673352"/>
            <a:ext cx="1993392" cy="228600"/>
          </a:xfrm>
          <a:prstGeom prst="rect">
            <a:avLst/>
          </a:prstGeom>
          <a:noFill/>
        </p:spPr>
        <p:txBody>
          <a:bodyPr wrap="square" anchor="t">
            <a:spAutoFit/>
          </a:bodyPr>
          <a:lstStyle/>
          <a:p>
            <a:pPr algn="l">
              <a:lnSpc>
                <a:spcPct val="105000"/>
              </a:lnSpc>
              <a:spcAft>
                <a:spcPts val="600"/>
              </a:spcAft>
            </a:pPr>
            <a:r>
              <a:rPr sz="1000" b="1">
                <a:solidFill>
                  <a:srgbClr val="E8EEF4"/>
                </a:solidFill>
                <a:latin typeface="Calibri"/>
              </a:rPr>
              <a:t>~30 days</a:t>
            </a:r>
          </a:p>
        </p:txBody>
      </p:sp>
      <p:sp>
        <p:nvSpPr>
          <p:cNvPr id="19" name="Rectangle 18"/>
          <p:cNvSpPr/>
          <p:nvPr/>
        </p:nvSpPr>
        <p:spPr>
          <a:xfrm>
            <a:off x="310896" y="1938528"/>
            <a:ext cx="2212848" cy="93268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 y="1993392"/>
            <a:ext cx="1993392" cy="548640"/>
          </a:xfrm>
          <a:prstGeom prst="rect">
            <a:avLst/>
          </a:prstGeom>
          <a:noFill/>
        </p:spPr>
        <p:txBody>
          <a:bodyPr wrap="square" anchor="t">
            <a:spAutoFit/>
          </a:bodyPr>
          <a:lstStyle/>
          <a:p>
            <a:pPr algn="l">
              <a:lnSpc>
                <a:spcPct val="102000"/>
              </a:lnSpc>
              <a:spcAft>
                <a:spcPts val="600"/>
              </a:spcAft>
            </a:pPr>
            <a:r>
              <a:rPr sz="950" b="0">
                <a:solidFill>
                  <a:srgbClr val="33383F"/>
                </a:solidFill>
                <a:latin typeface="Calibri"/>
              </a:rPr>
              <a:t>Map process · inventory reports/licenses · lock core KPIs</a:t>
            </a:r>
          </a:p>
        </p:txBody>
      </p:sp>
      <p:sp>
        <p:nvSpPr>
          <p:cNvPr id="21" name="Rectangle 20"/>
          <p:cNvSpPr/>
          <p:nvPr/>
        </p:nvSpPr>
        <p:spPr>
          <a:xfrm>
            <a:off x="310896" y="2871216"/>
            <a:ext cx="2212848" cy="25400"/>
          </a:xfrm>
          <a:prstGeom prst="rect">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 y="2596896"/>
            <a:ext cx="1993392" cy="274320"/>
          </a:xfrm>
          <a:prstGeom prst="rect">
            <a:avLst/>
          </a:prstGeom>
          <a:noFill/>
        </p:spPr>
        <p:txBody>
          <a:bodyPr wrap="square" anchor="t">
            <a:spAutoFit/>
          </a:bodyPr>
          <a:lstStyle/>
          <a:p>
            <a:pPr algn="l">
              <a:lnSpc>
                <a:spcPct val="100000"/>
              </a:lnSpc>
              <a:spcAft>
                <a:spcPts val="600"/>
              </a:spcAft>
            </a:pPr>
            <a:r>
              <a:rPr sz="950" b="1">
                <a:solidFill>
                  <a:srgbClr val="5A6B7B"/>
                </a:solidFill>
                <a:latin typeface="Calibri"/>
              </a:rPr>
              <a:t>◆ Assessment + quick-win list</a:t>
            </a:r>
          </a:p>
        </p:txBody>
      </p:sp>
      <p:sp>
        <p:nvSpPr>
          <p:cNvPr id="23" name="Rectangle 22"/>
          <p:cNvSpPr/>
          <p:nvPr/>
        </p:nvSpPr>
        <p:spPr>
          <a:xfrm>
            <a:off x="3684270" y="3895344"/>
            <a:ext cx="38100" cy="320040"/>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47288" y="3483864"/>
            <a:ext cx="512064" cy="512064"/>
          </a:xfrm>
          <a:prstGeom prst="ellipse">
            <a:avLst/>
          </a:prstGeom>
          <a:solidFill>
            <a:srgbClr val="2E6DA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47288" y="3538728"/>
            <a:ext cx="512064" cy="36576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1</a:t>
            </a:r>
          </a:p>
        </p:txBody>
      </p:sp>
      <p:sp>
        <p:nvSpPr>
          <p:cNvPr id="26" name="Rectangle 25"/>
          <p:cNvSpPr/>
          <p:nvPr/>
        </p:nvSpPr>
        <p:spPr>
          <a:xfrm>
            <a:off x="2596896" y="4160520"/>
            <a:ext cx="2212848" cy="56692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06624" y="4206240"/>
            <a:ext cx="1993392" cy="274320"/>
          </a:xfrm>
          <a:prstGeom prst="rect">
            <a:avLst/>
          </a:prstGeom>
          <a:noFill/>
        </p:spPr>
        <p:txBody>
          <a:bodyPr wrap="square" anchor="t">
            <a:spAutoFit/>
          </a:bodyPr>
          <a:lstStyle/>
          <a:p>
            <a:pPr algn="l">
              <a:lnSpc>
                <a:spcPct val="105000"/>
              </a:lnSpc>
              <a:spcAft>
                <a:spcPts val="600"/>
              </a:spcAft>
            </a:pPr>
            <a:r>
              <a:rPr sz="1200" b="1">
                <a:solidFill>
                  <a:srgbClr val="FFFFFF"/>
                </a:solidFill>
                <a:latin typeface="Calibri"/>
              </a:rPr>
              <a:t>Phase 1 · Stabilize</a:t>
            </a:r>
          </a:p>
        </p:txBody>
      </p:sp>
      <p:sp>
        <p:nvSpPr>
          <p:cNvPr id="28" name="TextBox 27"/>
          <p:cNvSpPr txBox="1"/>
          <p:nvPr/>
        </p:nvSpPr>
        <p:spPr>
          <a:xfrm>
            <a:off x="2706624" y="4462272"/>
            <a:ext cx="1993392" cy="228600"/>
          </a:xfrm>
          <a:prstGeom prst="rect">
            <a:avLst/>
          </a:prstGeom>
          <a:noFill/>
        </p:spPr>
        <p:txBody>
          <a:bodyPr wrap="square" anchor="t">
            <a:spAutoFit/>
          </a:bodyPr>
          <a:lstStyle/>
          <a:p>
            <a:pPr algn="l">
              <a:lnSpc>
                <a:spcPct val="105000"/>
              </a:lnSpc>
              <a:spcAft>
                <a:spcPts val="600"/>
              </a:spcAft>
            </a:pPr>
            <a:r>
              <a:rPr sz="1000" b="1">
                <a:solidFill>
                  <a:srgbClr val="E8EEF4"/>
                </a:solidFill>
                <a:latin typeface="Calibri"/>
              </a:rPr>
              <a:t>1–3 months</a:t>
            </a:r>
          </a:p>
        </p:txBody>
      </p:sp>
      <p:sp>
        <p:nvSpPr>
          <p:cNvPr id="29" name="Rectangle 28"/>
          <p:cNvSpPr/>
          <p:nvPr/>
        </p:nvSpPr>
        <p:spPr>
          <a:xfrm>
            <a:off x="2596896" y="4727448"/>
            <a:ext cx="2212848" cy="93268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06624" y="4782312"/>
            <a:ext cx="1993392" cy="548640"/>
          </a:xfrm>
          <a:prstGeom prst="rect">
            <a:avLst/>
          </a:prstGeom>
          <a:noFill/>
        </p:spPr>
        <p:txBody>
          <a:bodyPr wrap="square" anchor="t">
            <a:spAutoFit/>
          </a:bodyPr>
          <a:lstStyle/>
          <a:p>
            <a:pPr algn="l">
              <a:lnSpc>
                <a:spcPct val="102000"/>
              </a:lnSpc>
              <a:spcAft>
                <a:spcPts val="600"/>
              </a:spcAft>
            </a:pPr>
            <a:r>
              <a:rPr sz="950" b="0">
                <a:solidFill>
                  <a:srgbClr val="33383F"/>
                </a:solidFill>
                <a:latin typeface="Calibri"/>
              </a:rPr>
              <a:t>KPI dictionary + entity sign-off · Power Query auto-consolidation</a:t>
            </a:r>
          </a:p>
        </p:txBody>
      </p:sp>
      <p:sp>
        <p:nvSpPr>
          <p:cNvPr id="31" name="Rectangle 30"/>
          <p:cNvSpPr/>
          <p:nvPr/>
        </p:nvSpPr>
        <p:spPr>
          <a:xfrm>
            <a:off x="2596896" y="5660136"/>
            <a:ext cx="2212848" cy="25400"/>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06624" y="5385816"/>
            <a:ext cx="1993392" cy="274320"/>
          </a:xfrm>
          <a:prstGeom prst="rect">
            <a:avLst/>
          </a:prstGeom>
          <a:noFill/>
        </p:spPr>
        <p:txBody>
          <a:bodyPr wrap="square" anchor="t">
            <a:spAutoFit/>
          </a:bodyPr>
          <a:lstStyle/>
          <a:p>
            <a:pPr algn="l">
              <a:lnSpc>
                <a:spcPct val="100000"/>
              </a:lnSpc>
              <a:spcAft>
                <a:spcPts val="600"/>
              </a:spcAft>
            </a:pPr>
            <a:r>
              <a:rPr sz="950" b="1">
                <a:solidFill>
                  <a:srgbClr val="2E6DA4"/>
                </a:solidFill>
                <a:latin typeface="Calibri"/>
              </a:rPr>
              <a:t>◆ First report: Day 4 → Day 2</a:t>
            </a:r>
          </a:p>
        </p:txBody>
      </p:sp>
      <p:sp>
        <p:nvSpPr>
          <p:cNvPr id="33" name="Rectangle 32"/>
          <p:cNvSpPr/>
          <p:nvPr/>
        </p:nvSpPr>
        <p:spPr>
          <a:xfrm>
            <a:off x="5970270" y="2834640"/>
            <a:ext cx="38100"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733288" y="3483864"/>
            <a:ext cx="512064" cy="512064"/>
          </a:xfrm>
          <a:prstGeom prst="ellipse">
            <a:avLst/>
          </a:prstGeom>
          <a:solidFill>
            <a:srgbClr val="1F3A5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33288" y="3538728"/>
            <a:ext cx="512064" cy="36576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2</a:t>
            </a:r>
          </a:p>
        </p:txBody>
      </p:sp>
      <p:sp>
        <p:nvSpPr>
          <p:cNvPr id="36" name="Rectangle 35"/>
          <p:cNvSpPr/>
          <p:nvPr/>
        </p:nvSpPr>
        <p:spPr>
          <a:xfrm>
            <a:off x="4882896" y="1371600"/>
            <a:ext cx="2212848"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92624" y="1417320"/>
            <a:ext cx="1993392" cy="274320"/>
          </a:xfrm>
          <a:prstGeom prst="rect">
            <a:avLst/>
          </a:prstGeom>
          <a:noFill/>
        </p:spPr>
        <p:txBody>
          <a:bodyPr wrap="square" anchor="t">
            <a:spAutoFit/>
          </a:bodyPr>
          <a:lstStyle/>
          <a:p>
            <a:pPr algn="l">
              <a:lnSpc>
                <a:spcPct val="105000"/>
              </a:lnSpc>
              <a:spcAft>
                <a:spcPts val="600"/>
              </a:spcAft>
            </a:pPr>
            <a:r>
              <a:rPr sz="1200" b="1">
                <a:solidFill>
                  <a:srgbClr val="FFFFFF"/>
                </a:solidFill>
                <a:latin typeface="Calibri"/>
              </a:rPr>
              <a:t>Phase 2 · Standardize</a:t>
            </a:r>
          </a:p>
        </p:txBody>
      </p:sp>
      <p:sp>
        <p:nvSpPr>
          <p:cNvPr id="38" name="TextBox 37"/>
          <p:cNvSpPr txBox="1"/>
          <p:nvPr/>
        </p:nvSpPr>
        <p:spPr>
          <a:xfrm>
            <a:off x="4992624" y="1673352"/>
            <a:ext cx="1993392" cy="228600"/>
          </a:xfrm>
          <a:prstGeom prst="rect">
            <a:avLst/>
          </a:prstGeom>
          <a:noFill/>
        </p:spPr>
        <p:txBody>
          <a:bodyPr wrap="square" anchor="t">
            <a:spAutoFit/>
          </a:bodyPr>
          <a:lstStyle/>
          <a:p>
            <a:pPr algn="l">
              <a:lnSpc>
                <a:spcPct val="105000"/>
              </a:lnSpc>
              <a:spcAft>
                <a:spcPts val="600"/>
              </a:spcAft>
            </a:pPr>
            <a:r>
              <a:rPr sz="1000" b="1">
                <a:solidFill>
                  <a:srgbClr val="E8EEF4"/>
                </a:solidFill>
                <a:latin typeface="Calibri"/>
              </a:rPr>
              <a:t>3–6 months</a:t>
            </a:r>
          </a:p>
        </p:txBody>
      </p:sp>
      <p:sp>
        <p:nvSpPr>
          <p:cNvPr id="39" name="Rectangle 38"/>
          <p:cNvSpPr/>
          <p:nvPr/>
        </p:nvSpPr>
        <p:spPr>
          <a:xfrm>
            <a:off x="4882896" y="1938528"/>
            <a:ext cx="2212848" cy="93268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92624" y="1993392"/>
            <a:ext cx="1993392" cy="548640"/>
          </a:xfrm>
          <a:prstGeom prst="rect">
            <a:avLst/>
          </a:prstGeom>
          <a:noFill/>
        </p:spPr>
        <p:txBody>
          <a:bodyPr wrap="square" anchor="t">
            <a:spAutoFit/>
          </a:bodyPr>
          <a:lstStyle/>
          <a:p>
            <a:pPr algn="l">
              <a:lnSpc>
                <a:spcPct val="102000"/>
              </a:lnSpc>
              <a:spcAft>
                <a:spcPts val="600"/>
              </a:spcAft>
            </a:pPr>
            <a:r>
              <a:rPr sz="950" b="0">
                <a:solidFill>
                  <a:srgbClr val="33383F"/>
                </a:solidFill>
                <a:latin typeface="Calibri"/>
              </a:rPr>
              <a:t>Central data model · local→Group mapping · master-data governance</a:t>
            </a:r>
          </a:p>
        </p:txBody>
      </p:sp>
      <p:sp>
        <p:nvSpPr>
          <p:cNvPr id="41" name="Rectangle 40"/>
          <p:cNvSpPr/>
          <p:nvPr/>
        </p:nvSpPr>
        <p:spPr>
          <a:xfrm>
            <a:off x="4882896" y="2871216"/>
            <a:ext cx="2212848"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92624" y="2596896"/>
            <a:ext cx="1993392" cy="274320"/>
          </a:xfrm>
          <a:prstGeom prst="rect">
            <a:avLst/>
          </a:prstGeom>
          <a:noFill/>
        </p:spPr>
        <p:txBody>
          <a:bodyPr wrap="square" anchor="t">
            <a:spAutoFit/>
          </a:bodyPr>
          <a:lstStyle/>
          <a:p>
            <a:pPr algn="l">
              <a:lnSpc>
                <a:spcPct val="100000"/>
              </a:lnSpc>
              <a:spcAft>
                <a:spcPts val="600"/>
              </a:spcAft>
            </a:pPr>
            <a:r>
              <a:rPr sz="950" b="1">
                <a:solidFill>
                  <a:srgbClr val="1F3A5F"/>
                </a:solidFill>
                <a:latin typeface="Calibri"/>
              </a:rPr>
              <a:t>◆ Single source of truth + drill-down</a:t>
            </a:r>
          </a:p>
        </p:txBody>
      </p:sp>
      <p:sp>
        <p:nvSpPr>
          <p:cNvPr id="43" name="Rectangle 42"/>
          <p:cNvSpPr/>
          <p:nvPr/>
        </p:nvSpPr>
        <p:spPr>
          <a:xfrm>
            <a:off x="8256270" y="3895344"/>
            <a:ext cx="38100" cy="320040"/>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19288" y="3483864"/>
            <a:ext cx="512064" cy="512064"/>
          </a:xfrm>
          <a:prstGeom prst="ellipse">
            <a:avLst/>
          </a:prstGeom>
          <a:solidFill>
            <a:srgbClr val="178F8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19288" y="3538728"/>
            <a:ext cx="512064" cy="36576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3</a:t>
            </a:r>
          </a:p>
        </p:txBody>
      </p:sp>
      <p:sp>
        <p:nvSpPr>
          <p:cNvPr id="46" name="Rectangle 45"/>
          <p:cNvSpPr/>
          <p:nvPr/>
        </p:nvSpPr>
        <p:spPr>
          <a:xfrm>
            <a:off x="7168896" y="4160520"/>
            <a:ext cx="2212848" cy="566928"/>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78624" y="4206240"/>
            <a:ext cx="1993392" cy="274320"/>
          </a:xfrm>
          <a:prstGeom prst="rect">
            <a:avLst/>
          </a:prstGeom>
          <a:noFill/>
        </p:spPr>
        <p:txBody>
          <a:bodyPr wrap="square" anchor="t">
            <a:spAutoFit/>
          </a:bodyPr>
          <a:lstStyle/>
          <a:p>
            <a:pPr algn="l">
              <a:lnSpc>
                <a:spcPct val="105000"/>
              </a:lnSpc>
              <a:spcAft>
                <a:spcPts val="600"/>
              </a:spcAft>
            </a:pPr>
            <a:r>
              <a:rPr sz="1200" b="1">
                <a:solidFill>
                  <a:srgbClr val="FFFFFF"/>
                </a:solidFill>
                <a:latin typeface="Calibri"/>
              </a:rPr>
              <a:t>Phase 3 · Automate</a:t>
            </a:r>
          </a:p>
        </p:txBody>
      </p:sp>
      <p:sp>
        <p:nvSpPr>
          <p:cNvPr id="48" name="TextBox 47"/>
          <p:cNvSpPr txBox="1"/>
          <p:nvPr/>
        </p:nvSpPr>
        <p:spPr>
          <a:xfrm>
            <a:off x="7278624" y="4462272"/>
            <a:ext cx="1993392" cy="228600"/>
          </a:xfrm>
          <a:prstGeom prst="rect">
            <a:avLst/>
          </a:prstGeom>
          <a:noFill/>
        </p:spPr>
        <p:txBody>
          <a:bodyPr wrap="square" anchor="t">
            <a:spAutoFit/>
          </a:bodyPr>
          <a:lstStyle/>
          <a:p>
            <a:pPr algn="l">
              <a:lnSpc>
                <a:spcPct val="105000"/>
              </a:lnSpc>
              <a:spcAft>
                <a:spcPts val="600"/>
              </a:spcAft>
            </a:pPr>
            <a:r>
              <a:rPr sz="1000" b="1">
                <a:solidFill>
                  <a:srgbClr val="E8EEF4"/>
                </a:solidFill>
                <a:latin typeface="Calibri"/>
              </a:rPr>
              <a:t>6–12 months</a:t>
            </a:r>
          </a:p>
        </p:txBody>
      </p:sp>
      <p:sp>
        <p:nvSpPr>
          <p:cNvPr id="49" name="Rectangle 48"/>
          <p:cNvSpPr/>
          <p:nvPr/>
        </p:nvSpPr>
        <p:spPr>
          <a:xfrm>
            <a:off x="7168896" y="4727448"/>
            <a:ext cx="2212848" cy="93268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78624" y="4782312"/>
            <a:ext cx="1993392" cy="548640"/>
          </a:xfrm>
          <a:prstGeom prst="rect">
            <a:avLst/>
          </a:prstGeom>
          <a:noFill/>
        </p:spPr>
        <p:txBody>
          <a:bodyPr wrap="square" anchor="t">
            <a:spAutoFit/>
          </a:bodyPr>
          <a:lstStyle/>
          <a:p>
            <a:pPr algn="l">
              <a:lnSpc>
                <a:spcPct val="102000"/>
              </a:lnSpc>
              <a:spcAft>
                <a:spcPts val="600"/>
              </a:spcAft>
            </a:pPr>
            <a:r>
              <a:rPr sz="950" b="0">
                <a:solidFill>
                  <a:srgbClr val="33383F"/>
                </a:solidFill>
                <a:latin typeface="Calibri"/>
              </a:rPr>
              <a:t>End-to-end automation · near-real-time · integrate plan &amp; forecast</a:t>
            </a:r>
          </a:p>
        </p:txBody>
      </p:sp>
      <p:sp>
        <p:nvSpPr>
          <p:cNvPr id="51" name="Rectangle 50"/>
          <p:cNvSpPr/>
          <p:nvPr/>
        </p:nvSpPr>
        <p:spPr>
          <a:xfrm>
            <a:off x="7168896" y="5660136"/>
            <a:ext cx="2212848" cy="25400"/>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78624" y="5385816"/>
            <a:ext cx="1993392" cy="274320"/>
          </a:xfrm>
          <a:prstGeom prst="rect">
            <a:avLst/>
          </a:prstGeom>
          <a:noFill/>
        </p:spPr>
        <p:txBody>
          <a:bodyPr wrap="square" anchor="t">
            <a:spAutoFit/>
          </a:bodyPr>
          <a:lstStyle/>
          <a:p>
            <a:pPr algn="l">
              <a:lnSpc>
                <a:spcPct val="100000"/>
              </a:lnSpc>
              <a:spcAft>
                <a:spcPts val="600"/>
              </a:spcAft>
            </a:pPr>
            <a:r>
              <a:rPr sz="950" b="1">
                <a:solidFill>
                  <a:srgbClr val="178F80"/>
                </a:solidFill>
                <a:latin typeface="Calibri"/>
              </a:rPr>
              <a:t>◆ First report → Day 1 / near-real-time</a:t>
            </a:r>
          </a:p>
        </p:txBody>
      </p:sp>
      <p:sp>
        <p:nvSpPr>
          <p:cNvPr id="53" name="Rectangle 52"/>
          <p:cNvSpPr/>
          <p:nvPr/>
        </p:nvSpPr>
        <p:spPr>
          <a:xfrm>
            <a:off x="10542270" y="2834640"/>
            <a:ext cx="38100" cy="82296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305288" y="3483864"/>
            <a:ext cx="512064" cy="512064"/>
          </a:xfrm>
          <a:prstGeom prst="ellipse">
            <a:avLst/>
          </a:prstGeom>
          <a:solidFill>
            <a:srgbClr val="C8A24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05288" y="3538728"/>
            <a:ext cx="512064" cy="36576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4</a:t>
            </a:r>
          </a:p>
        </p:txBody>
      </p:sp>
      <p:sp>
        <p:nvSpPr>
          <p:cNvPr id="56" name="Rectangle 55"/>
          <p:cNvSpPr/>
          <p:nvPr/>
        </p:nvSpPr>
        <p:spPr>
          <a:xfrm>
            <a:off x="9454896" y="1371600"/>
            <a:ext cx="2212848" cy="566928"/>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564624" y="1417320"/>
            <a:ext cx="1993392" cy="274320"/>
          </a:xfrm>
          <a:prstGeom prst="rect">
            <a:avLst/>
          </a:prstGeom>
          <a:noFill/>
        </p:spPr>
        <p:txBody>
          <a:bodyPr wrap="square" anchor="t">
            <a:spAutoFit/>
          </a:bodyPr>
          <a:lstStyle/>
          <a:p>
            <a:pPr algn="l">
              <a:lnSpc>
                <a:spcPct val="105000"/>
              </a:lnSpc>
              <a:spcAft>
                <a:spcPts val="600"/>
              </a:spcAft>
            </a:pPr>
            <a:r>
              <a:rPr sz="1200" b="1">
                <a:solidFill>
                  <a:srgbClr val="FFFFFF"/>
                </a:solidFill>
                <a:latin typeface="Calibri"/>
              </a:rPr>
              <a:t>Phase 4 · Elevate</a:t>
            </a:r>
          </a:p>
        </p:txBody>
      </p:sp>
      <p:sp>
        <p:nvSpPr>
          <p:cNvPr id="58" name="TextBox 57"/>
          <p:cNvSpPr txBox="1"/>
          <p:nvPr/>
        </p:nvSpPr>
        <p:spPr>
          <a:xfrm>
            <a:off x="9564624" y="1673352"/>
            <a:ext cx="1993392" cy="228600"/>
          </a:xfrm>
          <a:prstGeom prst="rect">
            <a:avLst/>
          </a:prstGeom>
          <a:noFill/>
        </p:spPr>
        <p:txBody>
          <a:bodyPr wrap="square" anchor="t">
            <a:spAutoFit/>
          </a:bodyPr>
          <a:lstStyle/>
          <a:p>
            <a:pPr algn="l">
              <a:lnSpc>
                <a:spcPct val="105000"/>
              </a:lnSpc>
              <a:spcAft>
                <a:spcPts val="600"/>
              </a:spcAft>
            </a:pPr>
            <a:r>
              <a:rPr sz="1000" b="1">
                <a:solidFill>
                  <a:srgbClr val="E8EEF4"/>
                </a:solidFill>
                <a:latin typeface="Calibri"/>
              </a:rPr>
              <a:t>12 months +</a:t>
            </a:r>
          </a:p>
        </p:txBody>
      </p:sp>
      <p:sp>
        <p:nvSpPr>
          <p:cNvPr id="59" name="Rectangle 58"/>
          <p:cNvSpPr/>
          <p:nvPr/>
        </p:nvSpPr>
        <p:spPr>
          <a:xfrm>
            <a:off x="9454896" y="1938528"/>
            <a:ext cx="2212848" cy="93268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564624" y="1993392"/>
            <a:ext cx="1993392" cy="548640"/>
          </a:xfrm>
          <a:prstGeom prst="rect">
            <a:avLst/>
          </a:prstGeom>
          <a:noFill/>
        </p:spPr>
        <p:txBody>
          <a:bodyPr wrap="square" anchor="t">
            <a:spAutoFit/>
          </a:bodyPr>
          <a:lstStyle/>
          <a:p>
            <a:pPr algn="l">
              <a:lnSpc>
                <a:spcPct val="102000"/>
              </a:lnSpc>
              <a:spcAft>
                <a:spcPts val="600"/>
              </a:spcAft>
            </a:pPr>
            <a:r>
              <a:rPr sz="950" b="0">
                <a:solidFill>
                  <a:srgbClr val="33383F"/>
                </a:solidFill>
                <a:latin typeface="Calibri"/>
              </a:rPr>
              <a:t>Rolling forecast · driver models · scenarios · anomaly alerts</a:t>
            </a:r>
          </a:p>
        </p:txBody>
      </p:sp>
      <p:sp>
        <p:nvSpPr>
          <p:cNvPr id="61" name="Rectangle 60"/>
          <p:cNvSpPr/>
          <p:nvPr/>
        </p:nvSpPr>
        <p:spPr>
          <a:xfrm>
            <a:off x="9454896" y="2871216"/>
            <a:ext cx="2212848" cy="2540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564624" y="2596896"/>
            <a:ext cx="1993392" cy="274320"/>
          </a:xfrm>
          <a:prstGeom prst="rect">
            <a:avLst/>
          </a:prstGeom>
          <a:noFill/>
        </p:spPr>
        <p:txBody>
          <a:bodyPr wrap="square" anchor="t">
            <a:spAutoFit/>
          </a:bodyPr>
          <a:lstStyle/>
          <a:p>
            <a:pPr algn="l">
              <a:lnSpc>
                <a:spcPct val="100000"/>
              </a:lnSpc>
              <a:spcAft>
                <a:spcPts val="600"/>
              </a:spcAft>
            </a:pPr>
            <a:r>
              <a:rPr sz="950" b="1">
                <a:solidFill>
                  <a:srgbClr val="C8A24B"/>
                </a:solidFill>
                <a:latin typeface="Calibri"/>
              </a:rPr>
              <a:t>◆ Forward-looking + predictive analytics</a:t>
            </a:r>
          </a:p>
        </p:txBody>
      </p:sp>
      <p:sp>
        <p:nvSpPr>
          <p:cNvPr id="63" name="Rectangle 62"/>
          <p:cNvSpPr/>
          <p:nvPr/>
        </p:nvSpPr>
        <p:spPr>
          <a:xfrm>
            <a:off x="640080" y="5779008"/>
            <a:ext cx="10972800" cy="4572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2960" y="5852160"/>
            <a:ext cx="10607040" cy="320040"/>
          </a:xfrm>
          <a:prstGeom prst="rect">
            <a:avLst/>
          </a:prstGeom>
          <a:noFill/>
        </p:spPr>
        <p:txBody>
          <a:bodyPr wrap="square" anchor="ctr">
            <a:spAutoFit/>
          </a:bodyPr>
          <a:lstStyle/>
          <a:p>
            <a:pPr algn="l">
              <a:lnSpc>
                <a:spcPct val="105000"/>
              </a:lnSpc>
              <a:spcAft>
                <a:spcPts val="600"/>
              </a:spcAft>
            </a:pPr>
            <a:r>
              <a:rPr sz="1200" b="1">
                <a:solidFill>
                  <a:srgbClr val="C8A24B"/>
                </a:solidFill>
                <a:latin typeface="Calibri"/>
              </a:rPr>
              <a:t>Single thread — time to first report:   </a:t>
            </a:r>
            <a:r>
              <a:rPr sz="1200" b="1">
                <a:solidFill>
                  <a:srgbClr val="FFFFFF"/>
                </a:solidFill>
                <a:latin typeface="Calibri"/>
              </a:rPr>
              <a:t>Day 4  →  Day 2  →  Day 1  →  near-real-time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6 · PLATFORM</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Intelligent Shared Platform — layered architecture</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08</a:t>
            </a:r>
          </a:p>
        </p:txBody>
      </p:sp>
      <p:sp>
        <p:nvSpPr>
          <p:cNvPr id="11" name="Rectangle 10"/>
          <p:cNvSpPr/>
          <p:nvPr/>
        </p:nvSpPr>
        <p:spPr>
          <a:xfrm>
            <a:off x="2103120" y="1371600"/>
            <a:ext cx="2743200" cy="768096"/>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4560" y="1499616"/>
            <a:ext cx="2560320" cy="54864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Consumption</a:t>
            </a:r>
          </a:p>
        </p:txBody>
      </p:sp>
      <p:sp>
        <p:nvSpPr>
          <p:cNvPr id="13" name="Rectangle 12"/>
          <p:cNvSpPr/>
          <p:nvPr/>
        </p:nvSpPr>
        <p:spPr>
          <a:xfrm>
            <a:off x="5029200" y="1371600"/>
            <a:ext cx="630936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1499616"/>
            <a:ext cx="6035040" cy="548640"/>
          </a:xfrm>
          <a:prstGeom prst="rect">
            <a:avLst/>
          </a:prstGeom>
          <a:noFill/>
        </p:spPr>
        <p:txBody>
          <a:bodyPr wrap="square" anchor="ctr">
            <a:spAutoFit/>
          </a:bodyPr>
          <a:lstStyle/>
          <a:p>
            <a:pPr algn="l">
              <a:lnSpc>
                <a:spcPct val="105000"/>
              </a:lnSpc>
              <a:spcAft>
                <a:spcPts val="600"/>
              </a:spcAft>
            </a:pPr>
            <a:r>
              <a:rPr sz="1250" b="0">
                <a:solidFill>
                  <a:srgbClr val="33383F"/>
                </a:solidFill>
                <a:latin typeface="Calibri"/>
              </a:rPr>
              <a:t>BI dashboards · self-service · planning &amp; forecasting · advanced analytics / AI</a:t>
            </a:r>
          </a:p>
        </p:txBody>
      </p:sp>
      <p:sp>
        <p:nvSpPr>
          <p:cNvPr id="15" name="Rectangle 14"/>
          <p:cNvSpPr/>
          <p:nvPr/>
        </p:nvSpPr>
        <p:spPr>
          <a:xfrm>
            <a:off x="2103120" y="2249424"/>
            <a:ext cx="2743200" cy="768096"/>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2377440"/>
            <a:ext cx="2560320" cy="54864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Semantic / KPI</a:t>
            </a:r>
          </a:p>
        </p:txBody>
      </p:sp>
      <p:sp>
        <p:nvSpPr>
          <p:cNvPr id="17" name="Rectangle 16"/>
          <p:cNvSpPr/>
          <p:nvPr/>
        </p:nvSpPr>
        <p:spPr>
          <a:xfrm>
            <a:off x="5029200" y="2249424"/>
            <a:ext cx="630936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2377440"/>
            <a:ext cx="6035040" cy="548640"/>
          </a:xfrm>
          <a:prstGeom prst="rect">
            <a:avLst/>
          </a:prstGeom>
          <a:noFill/>
        </p:spPr>
        <p:txBody>
          <a:bodyPr wrap="square" anchor="ctr">
            <a:spAutoFit/>
          </a:bodyPr>
          <a:lstStyle/>
          <a:p>
            <a:pPr algn="l">
              <a:lnSpc>
                <a:spcPct val="105000"/>
              </a:lnSpc>
              <a:spcAft>
                <a:spcPts val="600"/>
              </a:spcAft>
            </a:pPr>
            <a:r>
              <a:rPr sz="1250" b="0">
                <a:solidFill>
                  <a:srgbClr val="33383F"/>
                </a:solidFill>
                <a:latin typeface="Calibri"/>
              </a:rPr>
              <a:t>Unified KPI definitions (the data dictionary built into the model)</a:t>
            </a:r>
          </a:p>
        </p:txBody>
      </p:sp>
      <p:sp>
        <p:nvSpPr>
          <p:cNvPr id="19" name="Rectangle 18"/>
          <p:cNvSpPr/>
          <p:nvPr/>
        </p:nvSpPr>
        <p:spPr>
          <a:xfrm>
            <a:off x="2103120" y="3127248"/>
            <a:ext cx="2743200"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0" y="3255264"/>
            <a:ext cx="2560320" cy="54864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Central data</a:t>
            </a:r>
          </a:p>
        </p:txBody>
      </p:sp>
      <p:sp>
        <p:nvSpPr>
          <p:cNvPr id="21" name="Rectangle 20"/>
          <p:cNvSpPr/>
          <p:nvPr/>
        </p:nvSpPr>
        <p:spPr>
          <a:xfrm>
            <a:off x="5029200" y="3127248"/>
            <a:ext cx="630936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3255264"/>
            <a:ext cx="6035040" cy="548640"/>
          </a:xfrm>
          <a:prstGeom prst="rect">
            <a:avLst/>
          </a:prstGeom>
          <a:noFill/>
        </p:spPr>
        <p:txBody>
          <a:bodyPr wrap="square" anchor="ctr">
            <a:spAutoFit/>
          </a:bodyPr>
          <a:lstStyle/>
          <a:p>
            <a:pPr algn="l">
              <a:lnSpc>
                <a:spcPct val="105000"/>
              </a:lnSpc>
              <a:spcAft>
                <a:spcPts val="600"/>
              </a:spcAft>
            </a:pPr>
            <a:r>
              <a:rPr sz="1250" b="0">
                <a:solidFill>
                  <a:srgbClr val="33383F"/>
                </a:solidFill>
                <a:latin typeface="Calibri"/>
              </a:rPr>
              <a:t>Data warehouse = single source of truth (unified master data · Group account mapping)</a:t>
            </a:r>
          </a:p>
        </p:txBody>
      </p:sp>
      <p:sp>
        <p:nvSpPr>
          <p:cNvPr id="23" name="Rectangle 22"/>
          <p:cNvSpPr/>
          <p:nvPr/>
        </p:nvSpPr>
        <p:spPr>
          <a:xfrm>
            <a:off x="2103120" y="4005072"/>
            <a:ext cx="2743200" cy="768096"/>
          </a:xfrm>
          <a:prstGeom prst="rect">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4133088"/>
            <a:ext cx="2560320" cy="54864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Integration</a:t>
            </a:r>
          </a:p>
        </p:txBody>
      </p:sp>
      <p:sp>
        <p:nvSpPr>
          <p:cNvPr id="25" name="Rectangle 24"/>
          <p:cNvSpPr/>
          <p:nvPr/>
        </p:nvSpPr>
        <p:spPr>
          <a:xfrm>
            <a:off x="5029200" y="4005072"/>
            <a:ext cx="630936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0" y="4133088"/>
            <a:ext cx="6035040" cy="548640"/>
          </a:xfrm>
          <a:prstGeom prst="rect">
            <a:avLst/>
          </a:prstGeom>
          <a:noFill/>
        </p:spPr>
        <p:txBody>
          <a:bodyPr wrap="square" anchor="ctr">
            <a:spAutoFit/>
          </a:bodyPr>
          <a:lstStyle/>
          <a:p>
            <a:pPr algn="l">
              <a:lnSpc>
                <a:spcPct val="105000"/>
              </a:lnSpc>
              <a:spcAft>
                <a:spcPts val="600"/>
              </a:spcAft>
            </a:pPr>
            <a:r>
              <a:rPr sz="1250" b="0">
                <a:solidFill>
                  <a:srgbClr val="33383F"/>
                </a:solidFill>
                <a:latin typeface="Calibri"/>
              </a:rPr>
              <a:t>Automated ELT (Power Query → dataflows → SAP Datasphere / BW)</a:t>
            </a:r>
          </a:p>
        </p:txBody>
      </p:sp>
      <p:sp>
        <p:nvSpPr>
          <p:cNvPr id="27" name="Rectangle 26"/>
          <p:cNvSpPr/>
          <p:nvPr/>
        </p:nvSpPr>
        <p:spPr>
          <a:xfrm>
            <a:off x="2103120" y="4882896"/>
            <a:ext cx="2743200" cy="768096"/>
          </a:xfrm>
          <a:prstGeom prst="rect">
            <a:avLst/>
          </a:prstGeom>
          <a:solidFill>
            <a:srgbClr val="44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94560" y="5010912"/>
            <a:ext cx="2560320" cy="54864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Source</a:t>
            </a:r>
          </a:p>
        </p:txBody>
      </p:sp>
      <p:sp>
        <p:nvSpPr>
          <p:cNvPr id="29" name="Rectangle 28"/>
          <p:cNvSpPr/>
          <p:nvPr/>
        </p:nvSpPr>
        <p:spPr>
          <a:xfrm>
            <a:off x="5029200" y="4882896"/>
            <a:ext cx="6309360" cy="76809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80" y="5010912"/>
            <a:ext cx="6035040" cy="548640"/>
          </a:xfrm>
          <a:prstGeom prst="rect">
            <a:avLst/>
          </a:prstGeom>
          <a:noFill/>
        </p:spPr>
        <p:txBody>
          <a:bodyPr wrap="square" anchor="ctr">
            <a:spAutoFit/>
          </a:bodyPr>
          <a:lstStyle/>
          <a:p>
            <a:pPr algn="l">
              <a:lnSpc>
                <a:spcPct val="105000"/>
              </a:lnSpc>
              <a:spcAft>
                <a:spcPts val="600"/>
              </a:spcAft>
            </a:pPr>
            <a:r>
              <a:rPr sz="1250" b="0">
                <a:solidFill>
                  <a:srgbClr val="33383F"/>
                </a:solidFill>
                <a:latin typeface="Calibri"/>
              </a:rPr>
              <a:t>SAP (ERP · the one system of record) + other sources</a:t>
            </a:r>
          </a:p>
        </p:txBody>
      </p:sp>
      <p:sp>
        <p:nvSpPr>
          <p:cNvPr id="31" name="Rectangle 30"/>
          <p:cNvSpPr/>
          <p:nvPr/>
        </p:nvSpPr>
        <p:spPr>
          <a:xfrm>
            <a:off x="548640" y="1371600"/>
            <a:ext cx="1371600" cy="420624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1371600"/>
            <a:ext cx="1335024" cy="4206240"/>
          </a:xfrm>
          <a:prstGeom prst="rect">
            <a:avLst/>
          </a:prstGeom>
          <a:noFill/>
        </p:spPr>
        <p:txBody>
          <a:bodyPr wrap="square" anchor="ctr">
            <a:spAutoFit/>
          </a:bodyPr>
          <a:lstStyle/>
          <a:p>
            <a:pPr algn="ctr">
              <a:lnSpc>
                <a:spcPct val="105000"/>
              </a:lnSpc>
              <a:spcAft>
                <a:spcPts val="900"/>
              </a:spcAft>
            </a:pPr>
            <a:r>
              <a:rPr sz="1400" b="1">
                <a:solidFill>
                  <a:srgbClr val="FFFFFF"/>
                </a:solidFill>
                <a:latin typeface="Calibri"/>
              </a:rPr>
              <a:t>Governance</a:t>
            </a:r>
          </a:p>
          <a:p>
            <a:pPr algn="ctr">
              <a:lnSpc>
                <a:spcPct val="105000"/>
              </a:lnSpc>
              <a:spcAft>
                <a:spcPts val="900"/>
              </a:spcAft>
            </a:pPr>
            <a:r>
              <a:rPr sz="1000" b="0">
                <a:solidFill>
                  <a:srgbClr val="FFFFFF"/>
                </a:solidFill>
                <a:latin typeface="Calibri"/>
              </a:rPr>
              <a:t>across all layers</a:t>
            </a:r>
          </a:p>
          <a:p>
            <a:pPr algn="ctr">
              <a:lnSpc>
                <a:spcPct val="105000"/>
              </a:lnSpc>
              <a:spcAft>
                <a:spcPts val="900"/>
              </a:spcAft>
            </a:pPr>
            <a:r>
              <a:rPr sz="1050" b="0">
                <a:solidFill>
                  <a:srgbClr val="FFFFFF"/>
                </a:solidFill>
                <a:latin typeface="Calibri"/>
              </a:rPr>
              <a:t>Data ownership</a:t>
            </a:r>
          </a:p>
          <a:p>
            <a:pPr algn="ctr">
              <a:lnSpc>
                <a:spcPct val="105000"/>
              </a:lnSpc>
              <a:spcAft>
                <a:spcPts val="900"/>
              </a:spcAft>
            </a:pPr>
            <a:r>
              <a:rPr sz="1050" b="0">
                <a:solidFill>
                  <a:srgbClr val="FFFFFF"/>
                </a:solidFill>
                <a:latin typeface="Calibri"/>
              </a:rPr>
              <a:t>KPI standards</a:t>
            </a:r>
          </a:p>
          <a:p>
            <a:pPr algn="ctr">
              <a:lnSpc>
                <a:spcPct val="105000"/>
              </a:lnSpc>
              <a:spcAft>
                <a:spcPts val="900"/>
              </a:spcAft>
            </a:pPr>
            <a:r>
              <a:rPr sz="1050" b="0">
                <a:solidFill>
                  <a:srgbClr val="FFFFFF"/>
                </a:solidFill>
                <a:latin typeface="Calibri"/>
              </a:rPr>
              <a:t>Security &amp; access</a:t>
            </a:r>
          </a:p>
          <a:p>
            <a:pPr algn="ctr">
              <a:lnSpc>
                <a:spcPct val="105000"/>
              </a:lnSpc>
              <a:spcAft>
                <a:spcPts val="900"/>
              </a:spcAft>
            </a:pPr>
            <a:r>
              <a:rPr sz="1050" b="0">
                <a:solidFill>
                  <a:srgbClr val="FFFFFF"/>
                </a:solidFill>
                <a:latin typeface="Calibri"/>
              </a:rPr>
              <a:t>Change mgmt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7 · CASE A · ONE TRUTH</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One truth in practice: the same 'Net Sales', 7 entities aligned</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09</a:t>
            </a:r>
          </a:p>
        </p:txBody>
      </p:sp>
      <p:sp>
        <p:nvSpPr>
          <p:cNvPr id="11" name="TextBox 10"/>
          <p:cNvSpPr txBox="1"/>
          <p:nvPr/>
        </p:nvSpPr>
        <p:spPr>
          <a:xfrm>
            <a:off x="548640" y="1234440"/>
            <a:ext cx="11064240" cy="457200"/>
          </a:xfrm>
          <a:prstGeom prst="rect">
            <a:avLst/>
          </a:prstGeom>
          <a:noFill/>
        </p:spPr>
        <p:txBody>
          <a:bodyPr wrap="square" anchor="t">
            <a:spAutoFit/>
          </a:bodyPr>
          <a:lstStyle/>
          <a:p>
            <a:pPr algn="l">
              <a:lnSpc>
                <a:spcPct val="105000"/>
              </a:lnSpc>
              <a:spcAft>
                <a:spcPts val="600"/>
              </a:spcAft>
            </a:pPr>
            <a:r>
              <a:rPr sz="1200" b="1">
                <a:solidFill>
                  <a:srgbClr val="1F3A5F"/>
                </a:solidFill>
                <a:latin typeface="Calibri"/>
              </a:rPr>
              <a:t>How: a KPI data dictionary locks 4 dimensions (tax / add-deduct items / account mapping / recognition timing) + entity sign-off + built into the model</a:t>
            </a:r>
          </a:p>
        </p:txBody>
      </p:sp>
      <p:graphicFrame>
        <p:nvGraphicFramePr>
          <p:cNvPr id="12" name="Table 11"/>
          <p:cNvGraphicFramePr>
            <a:graphicFrameLocks noGrp="1"/>
          </p:cNvGraphicFramePr>
          <p:nvPr/>
        </p:nvGraphicFramePr>
        <p:xfrm>
          <a:off x="548640" y="1783080"/>
          <a:ext cx="11091672" cy="3200400"/>
        </p:xfrm>
        <a:graphic>
          <a:graphicData uri="http://schemas.openxmlformats.org/drawingml/2006/table">
            <a:tbl>
              <a:tblPr firstRow="1" bandRow="1">
                <a:tableStyleId>{5C22544A-7EE6-4342-B048-85BDC9FD1C3A}</a:tableStyleId>
              </a:tblPr>
              <a:tblGrid>
                <a:gridCol w="2468880"/>
                <a:gridCol w="2377440"/>
                <a:gridCol w="2651760"/>
                <a:gridCol w="3593592"/>
              </a:tblGrid>
              <a:tr h="533400">
                <a:tc>
                  <a:txBody>
                    <a:bodyPr wrap="square"/>
                    <a:lstStyle/>
                    <a:p>
                      <a:r>
                        <a:rPr b="1" sz="1300">
                          <a:solidFill>
                            <a:srgbClr val="FFFFFF"/>
                          </a:solidFill>
                          <a:latin typeface="Calibri"/>
                        </a:rPr>
                        <a:t>Entity</a:t>
                      </a:r>
                    </a:p>
                  </a:txBody>
                  <a:tcPr anchor="ctr" marL="109728" marR="91440" marT="36576" marB="36576">
                    <a:solidFill>
                      <a:srgbClr val="1F3A5F"/>
                    </a:solidFill>
                  </a:tcPr>
                </a:tc>
                <a:tc>
                  <a:txBody>
                    <a:bodyPr wrap="square"/>
                    <a:lstStyle/>
                    <a:p>
                      <a:r>
                        <a:rPr b="1" sz="1300">
                          <a:solidFill>
                            <a:srgbClr val="FFFFFF"/>
                          </a:solidFill>
                          <a:latin typeface="Calibri"/>
                        </a:rPr>
                        <a:t>As reported (k)</a:t>
                      </a:r>
                    </a:p>
                  </a:txBody>
                  <a:tcPr anchor="ctr" marL="109728" marR="91440" marT="36576" marB="36576">
                    <a:solidFill>
                      <a:srgbClr val="1F3A5F"/>
                    </a:solidFill>
                  </a:tcPr>
                </a:tc>
                <a:tc>
                  <a:txBody>
                    <a:bodyPr wrap="square"/>
                    <a:lstStyle/>
                    <a:p>
                      <a:r>
                        <a:rPr b="1" sz="1300">
                          <a:solidFill>
                            <a:srgbClr val="FFFFFF"/>
                          </a:solidFill>
                          <a:latin typeface="Calibri"/>
                        </a:rPr>
                        <a:t>Aligned basis (k)</a:t>
                      </a:r>
                    </a:p>
                  </a:txBody>
                  <a:tcPr anchor="ctr" marL="109728" marR="91440" marT="36576" marB="36576">
                    <a:solidFill>
                      <a:srgbClr val="1F3A5F"/>
                    </a:solidFill>
                  </a:tcPr>
                </a:tc>
                <a:tc>
                  <a:txBody>
                    <a:bodyPr wrap="square"/>
                    <a:lstStyle/>
                    <a:p>
                      <a:r>
                        <a:rPr b="1" sz="1300">
                          <a:solidFill>
                            <a:srgbClr val="FFFFFF"/>
                          </a:solidFill>
                          <a:latin typeface="Calibri"/>
                        </a:rPr>
                        <a:t>Reason for change</a:t>
                      </a:r>
                    </a:p>
                  </a:txBody>
                  <a:tcPr anchor="ctr" marL="109728" marR="91440" marT="36576" marB="36576">
                    <a:solidFill>
                      <a:srgbClr val="1F3A5F"/>
                    </a:solidFill>
                  </a:tcPr>
                </a:tc>
              </a:tr>
              <a:tr h="533400">
                <a:tc>
                  <a:txBody>
                    <a:bodyPr wrap="square"/>
                    <a:lstStyle/>
                    <a:p>
                      <a:r>
                        <a:rPr sz="1250" b="1">
                          <a:solidFill>
                            <a:srgbClr val="2E6DA4"/>
                          </a:solidFill>
                          <a:latin typeface="Calibri"/>
                        </a:rPr>
                        <a:t>Medical – East</a:t>
                      </a:r>
                    </a:p>
                  </a:txBody>
                  <a:tcPr anchor="ctr" marL="109728" marR="91440" marT="36576" marB="36576">
                    <a:solidFill>
                      <a:srgbClr val="FFFFFF"/>
                    </a:solidFill>
                  </a:tcPr>
                </a:tc>
                <a:tc>
                  <a:txBody>
                    <a:bodyPr wrap="square"/>
                    <a:lstStyle/>
                    <a:p>
                      <a:r>
                        <a:rPr sz="1250">
                          <a:solidFill>
                            <a:srgbClr val="33383F"/>
                          </a:solidFill>
                          <a:latin typeface="Calibri"/>
                        </a:rPr>
                        <a:t>10,000</a:t>
                      </a:r>
                    </a:p>
                  </a:txBody>
                  <a:tcPr anchor="ctr" marL="109728" marR="91440" marT="36576" marB="36576">
                    <a:solidFill>
                      <a:srgbClr val="FFFFFF"/>
                    </a:solidFill>
                  </a:tcPr>
                </a:tc>
                <a:tc>
                  <a:txBody>
                    <a:bodyPr wrap="square"/>
                    <a:lstStyle/>
                    <a:p>
                      <a:r>
                        <a:rPr sz="1250" b="1">
                          <a:solidFill>
                            <a:srgbClr val="178F80"/>
                          </a:solidFill>
                          <a:latin typeface="Calibri"/>
                        </a:rPr>
                        <a:t>9,400</a:t>
                      </a:r>
                    </a:p>
                  </a:txBody>
                  <a:tcPr anchor="ctr" marL="109728" marR="91440" marT="36576" marB="36576">
                    <a:solidFill>
                      <a:srgbClr val="FFFFFF"/>
                    </a:solidFill>
                  </a:tcPr>
                </a:tc>
                <a:tc>
                  <a:txBody>
                    <a:bodyPr wrap="square"/>
                    <a:lstStyle/>
                    <a:p>
                      <a:r>
                        <a:rPr sz="1250">
                          <a:solidFill>
                            <a:srgbClr val="33383F"/>
                          </a:solidFill>
                          <a:latin typeface="Calibri"/>
                        </a:rPr>
                        <a:t>Deduct cash discounts &amp; returns</a:t>
                      </a:r>
                    </a:p>
                  </a:txBody>
                  <a:tcPr anchor="ctr" marL="109728" marR="91440" marT="36576" marB="36576">
                    <a:solidFill>
                      <a:srgbClr val="FFFFFF"/>
                    </a:solidFill>
                  </a:tcPr>
                </a:tc>
              </a:tr>
              <a:tr h="533400">
                <a:tc>
                  <a:txBody>
                    <a:bodyPr wrap="square"/>
                    <a:lstStyle/>
                    <a:p>
                      <a:r>
                        <a:rPr sz="1250" b="1">
                          <a:solidFill>
                            <a:srgbClr val="2E6DA4"/>
                          </a:solidFill>
                          <a:latin typeface="Calibri"/>
                        </a:rPr>
                        <a:t>Medical – North</a:t>
                      </a:r>
                    </a:p>
                  </a:txBody>
                  <a:tcPr anchor="ctr" marL="109728" marR="91440" marT="36576" marB="36576">
                    <a:solidFill>
                      <a:srgbClr val="F2F5F8"/>
                    </a:solidFill>
                  </a:tcPr>
                </a:tc>
                <a:tc>
                  <a:txBody>
                    <a:bodyPr wrap="square"/>
                    <a:lstStyle/>
                    <a:p>
                      <a:r>
                        <a:rPr sz="1250">
                          <a:solidFill>
                            <a:srgbClr val="33383F"/>
                          </a:solidFill>
                          <a:latin typeface="Calibri"/>
                        </a:rPr>
                        <a:t>9,500</a:t>
                      </a:r>
                    </a:p>
                  </a:txBody>
                  <a:tcPr anchor="ctr" marL="109728" marR="91440" marT="36576" marB="36576">
                    <a:solidFill>
                      <a:srgbClr val="F2F5F8"/>
                    </a:solidFill>
                  </a:tcPr>
                </a:tc>
                <a:tc>
                  <a:txBody>
                    <a:bodyPr wrap="square"/>
                    <a:lstStyle/>
                    <a:p>
                      <a:r>
                        <a:rPr sz="1250" b="1">
                          <a:solidFill>
                            <a:srgbClr val="178F80"/>
                          </a:solidFill>
                          <a:latin typeface="Calibri"/>
                        </a:rPr>
                        <a:t>9,100</a:t>
                      </a:r>
                    </a:p>
                  </a:txBody>
                  <a:tcPr anchor="ctr" marL="109728" marR="91440" marT="36576" marB="36576">
                    <a:solidFill>
                      <a:srgbClr val="F2F5F8"/>
                    </a:solidFill>
                  </a:tcPr>
                </a:tc>
                <a:tc>
                  <a:txBody>
                    <a:bodyPr wrap="square"/>
                    <a:lstStyle/>
                    <a:p>
                      <a:r>
                        <a:rPr sz="1250">
                          <a:solidFill>
                            <a:srgbClr val="33383F"/>
                          </a:solidFill>
                          <a:latin typeface="Calibri"/>
                        </a:rPr>
                        <a:t>Exclude freight income</a:t>
                      </a:r>
                    </a:p>
                  </a:txBody>
                  <a:tcPr anchor="ctr" marL="109728" marR="91440" marT="36576" marB="36576">
                    <a:solidFill>
                      <a:srgbClr val="F2F5F8"/>
                    </a:solidFill>
                  </a:tcPr>
                </a:tc>
              </a:tr>
              <a:tr h="533400">
                <a:tc>
                  <a:txBody>
                    <a:bodyPr wrap="square"/>
                    <a:lstStyle/>
                    <a:p>
                      <a:r>
                        <a:rPr sz="1250" b="1">
                          <a:solidFill>
                            <a:srgbClr val="2E6DA4"/>
                          </a:solidFill>
                          <a:latin typeface="Calibri"/>
                        </a:rPr>
                        <a:t>Production</a:t>
                      </a:r>
                    </a:p>
                  </a:txBody>
                  <a:tcPr anchor="ctr" marL="109728" marR="91440" marT="36576" marB="36576">
                    <a:solidFill>
                      <a:srgbClr val="FFFFFF"/>
                    </a:solidFill>
                  </a:tcPr>
                </a:tc>
                <a:tc>
                  <a:txBody>
                    <a:bodyPr wrap="square"/>
                    <a:lstStyle/>
                    <a:p>
                      <a:r>
                        <a:rPr sz="1250">
                          <a:solidFill>
                            <a:srgbClr val="33383F"/>
                          </a:solidFill>
                          <a:latin typeface="Calibri"/>
                        </a:rPr>
                        <a:t>10,500</a:t>
                      </a:r>
                    </a:p>
                  </a:txBody>
                  <a:tcPr anchor="ctr" marL="109728" marR="91440" marT="36576" marB="36576">
                    <a:solidFill>
                      <a:srgbClr val="FFFFFF"/>
                    </a:solidFill>
                  </a:tcPr>
                </a:tc>
                <a:tc>
                  <a:txBody>
                    <a:bodyPr wrap="square"/>
                    <a:lstStyle/>
                    <a:p>
                      <a:r>
                        <a:rPr sz="1250" b="1">
                          <a:solidFill>
                            <a:srgbClr val="178F80"/>
                          </a:solidFill>
                          <a:latin typeface="Calibri"/>
                        </a:rPr>
                        <a:t>9,000</a:t>
                      </a:r>
                    </a:p>
                  </a:txBody>
                  <a:tcPr anchor="ctr" marL="109728" marR="91440" marT="36576" marB="36576">
                    <a:solidFill>
                      <a:srgbClr val="FFFFFF"/>
                    </a:solidFill>
                  </a:tcPr>
                </a:tc>
                <a:tc>
                  <a:txBody>
                    <a:bodyPr wrap="square"/>
                    <a:lstStyle/>
                    <a:p>
                      <a:r>
                        <a:rPr sz="1250">
                          <a:solidFill>
                            <a:srgbClr val="33383F"/>
                          </a:solidFill>
                          <a:latin typeface="Calibri"/>
                        </a:rPr>
                        <a:t>Exclude VAT (tax-inclusive split)</a:t>
                      </a:r>
                    </a:p>
                  </a:txBody>
                  <a:tcPr anchor="ctr" marL="109728" marR="91440" marT="36576" marB="36576">
                    <a:solidFill>
                      <a:srgbClr val="FFFFFF"/>
                    </a:solidFill>
                  </a:tcPr>
                </a:tc>
              </a:tr>
              <a:tr h="533400">
                <a:tc>
                  <a:txBody>
                    <a:bodyPr wrap="square"/>
                    <a:lstStyle/>
                    <a:p>
                      <a:r>
                        <a:rPr sz="1250" b="1">
                          <a:solidFill>
                            <a:srgbClr val="2E6DA4"/>
                          </a:solidFill>
                          <a:latin typeface="Calibri"/>
                        </a:rPr>
                        <a:t>Service</a:t>
                      </a:r>
                    </a:p>
                  </a:txBody>
                  <a:tcPr anchor="ctr" marL="109728" marR="91440" marT="36576" marB="36576">
                    <a:solidFill>
                      <a:srgbClr val="F2F5F8"/>
                    </a:solidFill>
                  </a:tcPr>
                </a:tc>
                <a:tc>
                  <a:txBody>
                    <a:bodyPr wrap="square"/>
                    <a:lstStyle/>
                    <a:p>
                      <a:r>
                        <a:rPr sz="1250">
                          <a:solidFill>
                            <a:srgbClr val="33383F"/>
                          </a:solidFill>
                          <a:latin typeface="Calibri"/>
                        </a:rPr>
                        <a:t>9,000</a:t>
                      </a:r>
                    </a:p>
                  </a:txBody>
                  <a:tcPr anchor="ctr" marL="109728" marR="91440" marT="36576" marB="36576">
                    <a:solidFill>
                      <a:srgbClr val="F2F5F8"/>
                    </a:solidFill>
                  </a:tcPr>
                </a:tc>
                <a:tc>
                  <a:txBody>
                    <a:bodyPr wrap="square"/>
                    <a:lstStyle/>
                    <a:p>
                      <a:r>
                        <a:rPr sz="1250" b="1">
                          <a:solidFill>
                            <a:srgbClr val="178F80"/>
                          </a:solidFill>
                          <a:latin typeface="Calibri"/>
                        </a:rPr>
                        <a:t>9,300</a:t>
                      </a:r>
                    </a:p>
                  </a:txBody>
                  <a:tcPr anchor="ctr" marL="109728" marR="91440" marT="36576" marB="36576">
                    <a:solidFill>
                      <a:srgbClr val="F2F5F8"/>
                    </a:solidFill>
                  </a:tcPr>
                </a:tc>
                <a:tc>
                  <a:txBody>
                    <a:bodyPr wrap="square"/>
                    <a:lstStyle/>
                    <a:p>
                      <a:r>
                        <a:rPr sz="1250">
                          <a:solidFill>
                            <a:srgbClr val="33383F"/>
                          </a:solidFill>
                          <a:latin typeface="Calibri"/>
                        </a:rPr>
                        <a:t>Add omitted service revenue</a:t>
                      </a:r>
                    </a:p>
                  </a:txBody>
                  <a:tcPr anchor="ctr" marL="109728" marR="91440" marT="36576" marB="36576">
                    <a:solidFill>
                      <a:srgbClr val="F2F5F8"/>
                    </a:solidFill>
                  </a:tcPr>
                </a:tc>
              </a:tr>
              <a:tr h="533400">
                <a:tc>
                  <a:txBody>
                    <a:bodyPr wrap="square"/>
                    <a:lstStyle/>
                    <a:p>
                      <a:r>
                        <a:rPr sz="1250" b="1">
                          <a:solidFill>
                            <a:srgbClr val="2E6DA4"/>
                          </a:solidFill>
                          <a:latin typeface="Calibri"/>
                        </a:rPr>
                        <a:t>Trading</a:t>
                      </a:r>
                    </a:p>
                  </a:txBody>
                  <a:tcPr anchor="ctr" marL="109728" marR="91440" marT="36576" marB="36576">
                    <a:solidFill>
                      <a:srgbClr val="FFFFFF"/>
                    </a:solidFill>
                  </a:tcPr>
                </a:tc>
                <a:tc>
                  <a:txBody>
                    <a:bodyPr wrap="square"/>
                    <a:lstStyle/>
                    <a:p>
                      <a:r>
                        <a:rPr sz="1250">
                          <a:solidFill>
                            <a:srgbClr val="33383F"/>
                          </a:solidFill>
                          <a:latin typeface="Calibri"/>
                        </a:rPr>
                        <a:t>9,800</a:t>
                      </a:r>
                    </a:p>
                  </a:txBody>
                  <a:tcPr anchor="ctr" marL="109728" marR="91440" marT="36576" marB="36576">
                    <a:solidFill>
                      <a:srgbClr val="FFFFFF"/>
                    </a:solidFill>
                  </a:tcPr>
                </a:tc>
                <a:tc>
                  <a:txBody>
                    <a:bodyPr wrap="square"/>
                    <a:lstStyle/>
                    <a:p>
                      <a:r>
                        <a:rPr sz="1250" b="1">
                          <a:solidFill>
                            <a:srgbClr val="178F80"/>
                          </a:solidFill>
                          <a:latin typeface="Calibri"/>
                        </a:rPr>
                        <a:t>9,400</a:t>
                      </a:r>
                    </a:p>
                  </a:txBody>
                  <a:tcPr anchor="ctr" marL="109728" marR="91440" marT="36576" marB="36576">
                    <a:solidFill>
                      <a:srgbClr val="FFFFFF"/>
                    </a:solidFill>
                  </a:tcPr>
                </a:tc>
                <a:tc>
                  <a:txBody>
                    <a:bodyPr wrap="square"/>
                    <a:lstStyle/>
                    <a:p>
                      <a:r>
                        <a:rPr sz="1250">
                          <a:solidFill>
                            <a:srgbClr val="33383F"/>
                          </a:solidFill>
                          <a:latin typeface="Calibri"/>
                        </a:rPr>
                        <a:t>Shipment basis → billing basis</a:t>
                      </a:r>
                    </a:p>
                  </a:txBody>
                  <a:tcPr anchor="ctr" marL="109728" marR="91440" marT="36576" marB="36576">
                    <a:solidFill>
                      <a:srgbClr val="FFFFFF"/>
                    </a:solidFill>
                  </a:tcPr>
                </a:tc>
              </a:tr>
            </a:tbl>
          </a:graphicData>
        </a:graphic>
      </p:graphicFrame>
      <p:sp>
        <p:nvSpPr>
          <p:cNvPr id="13" name="TextBox 12"/>
          <p:cNvSpPr txBox="1"/>
          <p:nvPr/>
        </p:nvSpPr>
        <p:spPr>
          <a:xfrm>
            <a:off x="548640" y="5212080"/>
            <a:ext cx="11064240" cy="914400"/>
          </a:xfrm>
          <a:prstGeom prst="rect">
            <a:avLst/>
          </a:prstGeom>
          <a:noFill/>
        </p:spPr>
        <p:txBody>
          <a:bodyPr wrap="square" anchor="t">
            <a:spAutoFit/>
          </a:bodyPr>
          <a:lstStyle/>
          <a:p>
            <a:pPr algn="l">
              <a:lnSpc>
                <a:spcPct val="115000"/>
              </a:lnSpc>
              <a:spcAft>
                <a:spcPts val="600"/>
              </a:spcAft>
            </a:pPr>
            <a:r>
              <a:rPr sz="1400" b="1">
                <a:solidFill>
                  <a:srgbClr val="1F3A5F"/>
                </a:solidFill>
                <a:latin typeface="Calibri"/>
              </a:rPr>
              <a:t>Value:  </a:t>
            </a:r>
            <a:r>
              <a:rPr sz="1350" b="0">
                <a:solidFill>
                  <a:srgbClr val="33383F"/>
                </a:solidFill>
                <a:latin typeface="Calibri"/>
              </a:rPr>
              <a:t>differences shift from 'method differences' to 'business differences' — your follow-up moves from 'is this number right?' to 'why is this business performing this way?', with no manual reconciliation.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8 · CASE B · PIPELINE</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Mapping &amp; split pipeline: dirty data in → clean table out</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10</a:t>
            </a:r>
          </a:p>
        </p:txBody>
      </p:sp>
      <p:sp>
        <p:nvSpPr>
          <p:cNvPr id="11" name="Rectangle 10"/>
          <p:cNvSpPr/>
          <p:nvPr/>
        </p:nvSpPr>
        <p:spPr>
          <a:xfrm>
            <a:off x="548640" y="1417320"/>
            <a:ext cx="3383280" cy="16002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54480"/>
            <a:ext cx="3017520" cy="457200"/>
          </a:xfrm>
          <a:prstGeom prst="rect">
            <a:avLst/>
          </a:prstGeom>
          <a:noFill/>
        </p:spPr>
        <p:txBody>
          <a:bodyPr wrap="square" anchor="t">
            <a:spAutoFit/>
          </a:bodyPr>
          <a:lstStyle/>
          <a:p>
            <a:pPr algn="l">
              <a:lnSpc>
                <a:spcPct val="105000"/>
              </a:lnSpc>
              <a:spcAft>
                <a:spcPts val="600"/>
              </a:spcAft>
            </a:pPr>
            <a:r>
              <a:rPr sz="1600" b="1">
                <a:solidFill>
                  <a:srgbClr val="FFFFFF"/>
                </a:solidFill>
                <a:latin typeface="Calibri"/>
              </a:rPr>
              <a:t>1 · Staging</a:t>
            </a:r>
          </a:p>
        </p:txBody>
      </p:sp>
      <p:sp>
        <p:nvSpPr>
          <p:cNvPr id="13" name="TextBox 12"/>
          <p:cNvSpPr txBox="1"/>
          <p:nvPr/>
        </p:nvSpPr>
        <p:spPr>
          <a:xfrm>
            <a:off x="731520" y="2048256"/>
            <a:ext cx="3063240" cy="868680"/>
          </a:xfrm>
          <a:prstGeom prst="rect">
            <a:avLst/>
          </a:prstGeom>
          <a:noFill/>
        </p:spPr>
        <p:txBody>
          <a:bodyPr wrap="square" anchor="t">
            <a:spAutoFit/>
          </a:bodyPr>
          <a:lstStyle/>
          <a:p>
            <a:pPr algn="l">
              <a:lnSpc>
                <a:spcPct val="105000"/>
              </a:lnSpc>
              <a:spcAft>
                <a:spcPts val="600"/>
              </a:spcAft>
            </a:pPr>
            <a:r>
              <a:rPr sz="1200" b="0">
                <a:solidFill>
                  <a:srgbClr val="FFFFFF"/>
                </a:solidFill>
                <a:latin typeface="Calibri"/>
              </a:rPr>
              <a:t>SAP raw export</a:t>
            </a:r>
          </a:p>
          <a:p>
            <a:pPr algn="l">
              <a:lnSpc>
                <a:spcPct val="105000"/>
              </a:lnSpc>
              <a:spcAft>
                <a:spcPts val="600"/>
              </a:spcAft>
            </a:pPr>
            <a:r>
              <a:rPr sz="1200" b="0">
                <a:solidFill>
                  <a:srgbClr val="FFFFFF"/>
                </a:solidFill>
                <a:latin typeface="Calibri"/>
              </a:rPr>
              <a:t>(tax-incl / freight mixed in / returns positive)</a:t>
            </a:r>
          </a:p>
        </p:txBody>
      </p:sp>
      <p:sp>
        <p:nvSpPr>
          <p:cNvPr id="14" name="TextBox 13"/>
          <p:cNvSpPr txBox="1"/>
          <p:nvPr/>
        </p:nvSpPr>
        <p:spPr>
          <a:xfrm>
            <a:off x="3977640" y="1783080"/>
            <a:ext cx="457200" cy="731520"/>
          </a:xfrm>
          <a:prstGeom prst="rect">
            <a:avLst/>
          </a:prstGeom>
          <a:noFill/>
        </p:spPr>
        <p:txBody>
          <a:bodyPr wrap="square" anchor="t">
            <a:spAutoFit/>
          </a:bodyPr>
          <a:lstStyle/>
          <a:p>
            <a:pPr algn="ctr">
              <a:lnSpc>
                <a:spcPct val="105000"/>
              </a:lnSpc>
              <a:spcAft>
                <a:spcPts val="600"/>
              </a:spcAft>
            </a:pPr>
            <a:r>
              <a:rPr sz="2800" b="1">
                <a:solidFill>
                  <a:srgbClr val="1F3A5F"/>
                </a:solidFill>
                <a:latin typeface="Calibri"/>
              </a:rPr>
              <a:t>➜</a:t>
            </a:r>
          </a:p>
        </p:txBody>
      </p:sp>
      <p:sp>
        <p:nvSpPr>
          <p:cNvPr id="15" name="Rectangle 14"/>
          <p:cNvSpPr/>
          <p:nvPr/>
        </p:nvSpPr>
        <p:spPr>
          <a:xfrm>
            <a:off x="4343400" y="1417320"/>
            <a:ext cx="3383280" cy="1600200"/>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554480"/>
            <a:ext cx="3017520" cy="457200"/>
          </a:xfrm>
          <a:prstGeom prst="rect">
            <a:avLst/>
          </a:prstGeom>
          <a:noFill/>
        </p:spPr>
        <p:txBody>
          <a:bodyPr wrap="square" anchor="t">
            <a:spAutoFit/>
          </a:bodyPr>
          <a:lstStyle/>
          <a:p>
            <a:pPr algn="l">
              <a:lnSpc>
                <a:spcPct val="105000"/>
              </a:lnSpc>
              <a:spcAft>
                <a:spcPts val="600"/>
              </a:spcAft>
            </a:pPr>
            <a:r>
              <a:rPr sz="1600" b="1">
                <a:solidFill>
                  <a:srgbClr val="FFFFFF"/>
                </a:solidFill>
                <a:latin typeface="Calibri"/>
              </a:rPr>
              <a:t>2 · Transform</a:t>
            </a:r>
          </a:p>
        </p:txBody>
      </p:sp>
      <p:sp>
        <p:nvSpPr>
          <p:cNvPr id="17" name="TextBox 16"/>
          <p:cNvSpPr txBox="1"/>
          <p:nvPr/>
        </p:nvSpPr>
        <p:spPr>
          <a:xfrm>
            <a:off x="4526280" y="2048256"/>
            <a:ext cx="3063240" cy="868680"/>
          </a:xfrm>
          <a:prstGeom prst="rect">
            <a:avLst/>
          </a:prstGeom>
          <a:noFill/>
        </p:spPr>
        <p:txBody>
          <a:bodyPr wrap="square" anchor="t">
            <a:spAutoFit/>
          </a:bodyPr>
          <a:lstStyle/>
          <a:p>
            <a:pPr algn="l">
              <a:lnSpc>
                <a:spcPct val="105000"/>
              </a:lnSpc>
              <a:spcAft>
                <a:spcPts val="600"/>
              </a:spcAft>
            </a:pPr>
            <a:r>
              <a:rPr sz="1200" b="0">
                <a:solidFill>
                  <a:srgbClr val="FFFFFF"/>
                </a:solidFill>
                <a:latin typeface="Calibri"/>
              </a:rPr>
              <a:t>join config tables → split VAT ÷1.13</a:t>
            </a:r>
          </a:p>
          <a:p>
            <a:pPr algn="l">
              <a:lnSpc>
                <a:spcPct val="105000"/>
              </a:lnSpc>
              <a:spcAft>
                <a:spcPts val="600"/>
              </a:spcAft>
            </a:pPr>
            <a:r>
              <a:rPr sz="1200" b="0">
                <a:solidFill>
                  <a:srgbClr val="FFFFFF"/>
                </a:solidFill>
                <a:latin typeface="Calibri"/>
              </a:rPr>
              <a:t>split service · drop freight · apply +/- sign</a:t>
            </a:r>
          </a:p>
        </p:txBody>
      </p:sp>
      <p:sp>
        <p:nvSpPr>
          <p:cNvPr id="18" name="TextBox 17"/>
          <p:cNvSpPr txBox="1"/>
          <p:nvPr/>
        </p:nvSpPr>
        <p:spPr>
          <a:xfrm>
            <a:off x="7772400" y="1783080"/>
            <a:ext cx="457200" cy="731520"/>
          </a:xfrm>
          <a:prstGeom prst="rect">
            <a:avLst/>
          </a:prstGeom>
          <a:noFill/>
        </p:spPr>
        <p:txBody>
          <a:bodyPr wrap="square" anchor="t">
            <a:spAutoFit/>
          </a:bodyPr>
          <a:lstStyle/>
          <a:p>
            <a:pPr algn="ctr">
              <a:lnSpc>
                <a:spcPct val="105000"/>
              </a:lnSpc>
              <a:spcAft>
                <a:spcPts val="600"/>
              </a:spcAft>
            </a:pPr>
            <a:r>
              <a:rPr sz="2800" b="1">
                <a:solidFill>
                  <a:srgbClr val="1F3A5F"/>
                </a:solidFill>
                <a:latin typeface="Calibri"/>
              </a:rPr>
              <a:t>➜</a:t>
            </a:r>
          </a:p>
        </p:txBody>
      </p:sp>
      <p:sp>
        <p:nvSpPr>
          <p:cNvPr id="19" name="Rectangle 18"/>
          <p:cNvSpPr/>
          <p:nvPr/>
        </p:nvSpPr>
        <p:spPr>
          <a:xfrm>
            <a:off x="8138160" y="1417320"/>
            <a:ext cx="3383280" cy="1600200"/>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554480"/>
            <a:ext cx="3017520" cy="457200"/>
          </a:xfrm>
          <a:prstGeom prst="rect">
            <a:avLst/>
          </a:prstGeom>
          <a:noFill/>
        </p:spPr>
        <p:txBody>
          <a:bodyPr wrap="square" anchor="t">
            <a:spAutoFit/>
          </a:bodyPr>
          <a:lstStyle/>
          <a:p>
            <a:pPr algn="l">
              <a:lnSpc>
                <a:spcPct val="105000"/>
              </a:lnSpc>
              <a:spcAft>
                <a:spcPts val="600"/>
              </a:spcAft>
            </a:pPr>
            <a:r>
              <a:rPr sz="1600" b="1">
                <a:solidFill>
                  <a:srgbClr val="FFFFFF"/>
                </a:solidFill>
                <a:latin typeface="Calibri"/>
              </a:rPr>
              <a:t>3 · Clean fact</a:t>
            </a:r>
          </a:p>
        </p:txBody>
      </p:sp>
      <p:sp>
        <p:nvSpPr>
          <p:cNvPr id="21" name="TextBox 20"/>
          <p:cNvSpPr txBox="1"/>
          <p:nvPr/>
        </p:nvSpPr>
        <p:spPr>
          <a:xfrm>
            <a:off x="8321040" y="2048256"/>
            <a:ext cx="3063240" cy="868680"/>
          </a:xfrm>
          <a:prstGeom prst="rect">
            <a:avLst/>
          </a:prstGeom>
          <a:noFill/>
        </p:spPr>
        <p:txBody>
          <a:bodyPr wrap="square" anchor="t">
            <a:spAutoFit/>
          </a:bodyPr>
          <a:lstStyle/>
          <a:p>
            <a:pPr algn="l">
              <a:lnSpc>
                <a:spcPct val="105000"/>
              </a:lnSpc>
              <a:spcAft>
                <a:spcPts val="600"/>
              </a:spcAft>
            </a:pPr>
            <a:r>
              <a:rPr sz="1200" b="0">
                <a:solidFill>
                  <a:srgbClr val="FFFFFF"/>
                </a:solidFill>
                <a:latin typeface="Calibri"/>
              </a:rPr>
              <a:t>long / tidy format</a:t>
            </a:r>
          </a:p>
          <a:p>
            <a:pPr algn="l">
              <a:lnSpc>
                <a:spcPct val="105000"/>
              </a:lnSpc>
              <a:spcAft>
                <a:spcPts val="600"/>
              </a:spcAft>
            </a:pPr>
            <a:r>
              <a:rPr sz="1200" b="0">
                <a:solidFill>
                  <a:srgbClr val="FFFFFF"/>
                </a:solidFill>
                <a:latin typeface="Calibri"/>
              </a:rPr>
              <a:t>Group accounts + EUR</a:t>
            </a:r>
          </a:p>
        </p:txBody>
      </p:sp>
      <p:sp>
        <p:nvSpPr>
          <p:cNvPr id="22" name="TextBox 21"/>
          <p:cNvSpPr txBox="1"/>
          <p:nvPr/>
        </p:nvSpPr>
        <p:spPr>
          <a:xfrm>
            <a:off x="548640" y="3291840"/>
            <a:ext cx="10972800" cy="365760"/>
          </a:xfrm>
          <a:prstGeom prst="rect">
            <a:avLst/>
          </a:prstGeom>
          <a:noFill/>
        </p:spPr>
        <p:txBody>
          <a:bodyPr wrap="square" anchor="t">
            <a:spAutoFit/>
          </a:bodyPr>
          <a:lstStyle/>
          <a:p>
            <a:pPr algn="l">
              <a:lnSpc>
                <a:spcPct val="105000"/>
              </a:lnSpc>
              <a:spcAft>
                <a:spcPts val="600"/>
              </a:spcAft>
            </a:pPr>
            <a:r>
              <a:rPr sz="1400" b="1">
                <a:solidFill>
                  <a:srgbClr val="1F3A5F"/>
                </a:solidFill>
                <a:latin typeface="Calibri"/>
              </a:rPr>
              <a:t>Production entity (tax-inclusive 13% + freight mixed in) — result:</a:t>
            </a:r>
          </a:p>
        </p:txBody>
      </p:sp>
      <p:sp>
        <p:nvSpPr>
          <p:cNvPr id="23" name="Rectangle 22"/>
          <p:cNvSpPr/>
          <p:nvPr/>
        </p:nvSpPr>
        <p:spPr>
          <a:xfrm>
            <a:off x="548640" y="3703320"/>
            <a:ext cx="3108960" cy="56692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794760"/>
            <a:ext cx="2926080" cy="411480"/>
          </a:xfrm>
          <a:prstGeom prst="rect">
            <a:avLst/>
          </a:prstGeom>
          <a:noFill/>
        </p:spPr>
        <p:txBody>
          <a:bodyPr wrap="square" anchor="ctr">
            <a:spAutoFit/>
          </a:bodyPr>
          <a:lstStyle/>
          <a:p>
            <a:pPr algn="l">
              <a:lnSpc>
                <a:spcPct val="105000"/>
              </a:lnSpc>
              <a:spcAft>
                <a:spcPts val="600"/>
              </a:spcAft>
            </a:pPr>
            <a:r>
              <a:rPr sz="1200" b="1">
                <a:solidFill>
                  <a:srgbClr val="FFFFFF"/>
                </a:solidFill>
                <a:latin typeface="Calibri"/>
              </a:rPr>
              <a:t>Naive sum (wrong)</a:t>
            </a:r>
          </a:p>
        </p:txBody>
      </p:sp>
      <p:sp>
        <p:nvSpPr>
          <p:cNvPr id="25" name="Rectangle 24"/>
          <p:cNvSpPr/>
          <p:nvPr/>
        </p:nvSpPr>
        <p:spPr>
          <a:xfrm>
            <a:off x="3749039" y="3703320"/>
            <a:ext cx="7863840" cy="56692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86200" y="3794760"/>
            <a:ext cx="7589520" cy="411480"/>
          </a:xfrm>
          <a:prstGeom prst="rect">
            <a:avLst/>
          </a:prstGeom>
          <a:noFill/>
        </p:spPr>
        <p:txBody>
          <a:bodyPr wrap="square" anchor="ctr">
            <a:spAutoFit/>
          </a:bodyPr>
          <a:lstStyle/>
          <a:p>
            <a:pPr algn="l">
              <a:lnSpc>
                <a:spcPct val="105000"/>
              </a:lnSpc>
              <a:spcAft>
                <a:spcPts val="600"/>
              </a:spcAft>
            </a:pPr>
            <a:r>
              <a:rPr sz="1200" b="0">
                <a:solidFill>
                  <a:srgbClr val="33383F"/>
                </a:solidFill>
                <a:latin typeface="Calibri"/>
              </a:rPr>
              <a:t>11,300,000 + 113,000 = 11,413,000</a:t>
            </a:r>
          </a:p>
        </p:txBody>
      </p:sp>
      <p:sp>
        <p:nvSpPr>
          <p:cNvPr id="27" name="Rectangle 26"/>
          <p:cNvSpPr/>
          <p:nvPr/>
        </p:nvSpPr>
        <p:spPr>
          <a:xfrm>
            <a:off x="548640" y="4361688"/>
            <a:ext cx="3108960" cy="566928"/>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453128"/>
            <a:ext cx="2926080" cy="411480"/>
          </a:xfrm>
          <a:prstGeom prst="rect">
            <a:avLst/>
          </a:prstGeom>
          <a:noFill/>
        </p:spPr>
        <p:txBody>
          <a:bodyPr wrap="square" anchor="ctr">
            <a:spAutoFit/>
          </a:bodyPr>
          <a:lstStyle/>
          <a:p>
            <a:pPr algn="l">
              <a:lnSpc>
                <a:spcPct val="105000"/>
              </a:lnSpc>
              <a:spcAft>
                <a:spcPts val="600"/>
              </a:spcAft>
            </a:pPr>
            <a:r>
              <a:rPr sz="1200" b="1">
                <a:solidFill>
                  <a:srgbClr val="FFFFFF"/>
                </a:solidFill>
                <a:latin typeface="Calibri"/>
              </a:rPr>
              <a:t>Aligned Net Sales (right)</a:t>
            </a:r>
          </a:p>
        </p:txBody>
      </p:sp>
      <p:sp>
        <p:nvSpPr>
          <p:cNvPr id="29" name="Rectangle 28"/>
          <p:cNvSpPr/>
          <p:nvPr/>
        </p:nvSpPr>
        <p:spPr>
          <a:xfrm>
            <a:off x="3749039" y="4361688"/>
            <a:ext cx="7863840" cy="56692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86200" y="4453128"/>
            <a:ext cx="7589520" cy="411480"/>
          </a:xfrm>
          <a:prstGeom prst="rect">
            <a:avLst/>
          </a:prstGeom>
          <a:noFill/>
        </p:spPr>
        <p:txBody>
          <a:bodyPr wrap="square" anchor="ctr">
            <a:spAutoFit/>
          </a:bodyPr>
          <a:lstStyle/>
          <a:p>
            <a:pPr algn="l">
              <a:lnSpc>
                <a:spcPct val="105000"/>
              </a:lnSpc>
              <a:spcAft>
                <a:spcPts val="600"/>
              </a:spcAft>
            </a:pPr>
            <a:r>
              <a:rPr sz="1200" b="0">
                <a:solidFill>
                  <a:srgbClr val="33383F"/>
                </a:solidFill>
                <a:latin typeface="Calibri"/>
              </a:rPr>
              <a:t>10,000,000 − 1,000,000 − 200,000 − 50,000 = 8,750,000 CNY</a:t>
            </a:r>
          </a:p>
        </p:txBody>
      </p:sp>
      <p:sp>
        <p:nvSpPr>
          <p:cNvPr id="31" name="Rectangle 30"/>
          <p:cNvSpPr/>
          <p:nvPr/>
        </p:nvSpPr>
        <p:spPr>
          <a:xfrm>
            <a:off x="548640" y="5020056"/>
            <a:ext cx="3108960"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111496"/>
            <a:ext cx="2926080" cy="411480"/>
          </a:xfrm>
          <a:prstGeom prst="rect">
            <a:avLst/>
          </a:prstGeom>
          <a:noFill/>
        </p:spPr>
        <p:txBody>
          <a:bodyPr wrap="square" anchor="ctr">
            <a:spAutoFit/>
          </a:bodyPr>
          <a:lstStyle/>
          <a:p>
            <a:pPr algn="l">
              <a:lnSpc>
                <a:spcPct val="105000"/>
              </a:lnSpc>
              <a:spcAft>
                <a:spcPts val="600"/>
              </a:spcAft>
            </a:pPr>
            <a:r>
              <a:rPr sz="1200" b="1">
                <a:solidFill>
                  <a:srgbClr val="FFFFFF"/>
                </a:solidFill>
                <a:latin typeface="Calibri"/>
              </a:rPr>
              <a:t>Built-in checks</a:t>
            </a:r>
          </a:p>
        </p:txBody>
      </p:sp>
      <p:sp>
        <p:nvSpPr>
          <p:cNvPr id="33" name="Rectangle 32"/>
          <p:cNvSpPr/>
          <p:nvPr/>
        </p:nvSpPr>
        <p:spPr>
          <a:xfrm>
            <a:off x="3749039" y="5020056"/>
            <a:ext cx="7863840" cy="566928"/>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86200" y="5111496"/>
            <a:ext cx="7589520" cy="411480"/>
          </a:xfrm>
          <a:prstGeom prst="rect">
            <a:avLst/>
          </a:prstGeom>
          <a:noFill/>
        </p:spPr>
        <p:txBody>
          <a:bodyPr wrap="square" anchor="ctr">
            <a:spAutoFit/>
          </a:bodyPr>
          <a:lstStyle/>
          <a:p>
            <a:pPr algn="l">
              <a:lnSpc>
                <a:spcPct val="105000"/>
              </a:lnSpc>
              <a:spcAft>
                <a:spcPts val="600"/>
              </a:spcAft>
            </a:pPr>
            <a:r>
              <a:rPr sz="1200" b="0">
                <a:solidFill>
                  <a:srgbClr val="33383F"/>
                </a:solidFill>
                <a:latin typeface="Calibri"/>
              </a:rPr>
              <a:t>VAT reconstruction ✓   total conservation ✓   unmapped-account alert ✓</a:t>
            </a:r>
          </a:p>
        </p:txBody>
      </p:sp>
      <p:sp>
        <p:nvSpPr>
          <p:cNvPr id="35" name="TextBox 34"/>
          <p:cNvSpPr txBox="1"/>
          <p:nvPr/>
        </p:nvSpPr>
        <p:spPr>
          <a:xfrm>
            <a:off x="548640" y="5852160"/>
            <a:ext cx="11064240" cy="457200"/>
          </a:xfrm>
          <a:prstGeom prst="rect">
            <a:avLst/>
          </a:prstGeom>
          <a:noFill/>
        </p:spPr>
        <p:txBody>
          <a:bodyPr wrap="square" anchor="t">
            <a:spAutoFit/>
          </a:bodyPr>
          <a:lstStyle/>
          <a:p>
            <a:pPr algn="l">
              <a:lnSpc>
                <a:spcPct val="105000"/>
              </a:lnSpc>
              <a:spcAft>
                <a:spcPts val="600"/>
              </a:spcAft>
            </a:pPr>
            <a:r>
              <a:rPr sz="1250" b="1">
                <a:solidFill>
                  <a:srgbClr val="1F3A5F"/>
                </a:solidFill>
                <a:latin typeface="Calibri"/>
              </a:rPr>
              <a:t>Rules live in config tables, logic in the pipeline: change a basis by editing one row, reuse across all entities, every figure auditable.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9 · REAL-TIME</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How to achieve 'real-time' reporting</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11</a:t>
            </a:r>
          </a:p>
        </p:txBody>
      </p:sp>
      <p:sp>
        <p:nvSpPr>
          <p:cNvPr id="11" name="TextBox 10"/>
          <p:cNvSpPr txBox="1"/>
          <p:nvPr/>
        </p:nvSpPr>
        <p:spPr>
          <a:xfrm>
            <a:off x="548640" y="1325880"/>
            <a:ext cx="11064240" cy="685800"/>
          </a:xfrm>
          <a:prstGeom prst="rect">
            <a:avLst/>
          </a:prstGeom>
          <a:noFill/>
        </p:spPr>
        <p:txBody>
          <a:bodyPr wrap="square" anchor="t">
            <a:spAutoFit/>
          </a:bodyPr>
          <a:lstStyle/>
          <a:p>
            <a:pPr algn="l">
              <a:lnSpc>
                <a:spcPct val="115000"/>
              </a:lnSpc>
              <a:spcAft>
                <a:spcPts val="600"/>
              </a:spcAft>
            </a:pPr>
            <a:r>
              <a:rPr sz="1500" b="1">
                <a:solidFill>
                  <a:srgbClr val="C8A24B"/>
                </a:solidFill>
                <a:latin typeface="Calibri"/>
              </a:rPr>
              <a:t>A mature view:  </a:t>
            </a:r>
            <a:r>
              <a:rPr sz="1500" b="0">
                <a:solidFill>
                  <a:srgbClr val="33383F"/>
                </a:solidFill>
                <a:latin typeface="Calibri"/>
              </a:rPr>
              <a:t>management decisions need 'right-time' — mostly daily / near-real-time, not per-second streaming. Spend where it matters.</a:t>
            </a:r>
          </a:p>
        </p:txBody>
      </p:sp>
      <p:sp>
        <p:nvSpPr>
          <p:cNvPr id="12" name="TextBox 11"/>
          <p:cNvSpPr txBox="1"/>
          <p:nvPr/>
        </p:nvSpPr>
        <p:spPr>
          <a:xfrm>
            <a:off x="640080" y="2286000"/>
            <a:ext cx="10972800" cy="3657600"/>
          </a:xfrm>
          <a:prstGeom prst="rect">
            <a:avLst/>
          </a:prstGeom>
          <a:noFill/>
        </p:spPr>
        <p:txBody>
          <a:bodyPr wrap="square">
            <a:spAutoFit/>
          </a:bodyPr>
          <a:lstStyle/>
          <a:p>
            <a:pPr>
              <a:lnSpc>
                <a:spcPct val="108000"/>
              </a:lnSpc>
              <a:spcAft>
                <a:spcPts val="1300"/>
              </a:spcAft>
            </a:pPr>
            <a:r>
              <a:rPr sz="1600" b="1">
                <a:solidFill>
                  <a:srgbClr val="1F3A5F"/>
                </a:solidFill>
                <a:latin typeface="Calibri"/>
              </a:rPr>
              <a:t>▪   Automated scheduled extraction + incremental refresh, replacing manual export (start with daily refresh)</a:t>
            </a:r>
          </a:p>
          <a:p>
            <a:pPr>
              <a:lnSpc>
                <a:spcPct val="108000"/>
              </a:lnSpc>
              <a:spcAft>
                <a:spcPts val="1300"/>
              </a:spcAft>
            </a:pPr>
            <a:r>
              <a:rPr sz="1600" b="1">
                <a:solidFill>
                  <a:srgbClr val="1F3A5F"/>
                </a:solidFill>
                <a:latin typeface="Calibri"/>
              </a:rPr>
              <a:t>▪   Pre-built data model; reports read the model directly — open in seconds, drill down freely</a:t>
            </a:r>
          </a:p>
          <a:p>
            <a:pPr>
              <a:lnSpc>
                <a:spcPct val="108000"/>
              </a:lnSpc>
              <a:spcAft>
                <a:spcPts val="1300"/>
              </a:spcAft>
            </a:pPr>
            <a:r>
              <a:rPr sz="1600" b="1">
                <a:solidFill>
                  <a:srgbClr val="1F3A5F"/>
                </a:solidFill>
                <a:latin typeface="Calibri"/>
              </a:rPr>
              <a:t>▪   Critical metrics (cash / orders) handled separately via DirectQuery / near-real-time connections</a:t>
            </a:r>
          </a:p>
          <a:p>
            <a:pPr>
              <a:lnSpc>
                <a:spcPct val="108000"/>
              </a:lnSpc>
              <a:spcAft>
                <a:spcPts val="1300"/>
              </a:spcAft>
            </a:pPr>
            <a:r>
              <a:rPr sz="1600" b="1">
                <a:solidFill>
                  <a:srgbClr val="1F3A5F"/>
                </a:solidFill>
                <a:latin typeface="Calibri"/>
              </a:rPr>
              <a:t>▪   SAP data access (light to heavy):</a:t>
            </a:r>
          </a:p>
          <a:p>
            <a:pPr>
              <a:lnSpc>
                <a:spcPct val="108000"/>
              </a:lnSpc>
              <a:spcAft>
                <a:spcPts val="1300"/>
              </a:spcAft>
            </a:pPr>
            <a:r>
              <a:rPr sz="1450" b="0">
                <a:solidFill>
                  <a:srgbClr val="5A6B7B"/>
                </a:solidFill>
                <a:latin typeface="Calibri"/>
              </a:rPr>
              <a:t>        –   OData / CDS Views  →  connector table extraction  →  reuse Group SAP BW / SAP Analytics Cloud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10 · DELIVERY UNDER CONSTRAINTS</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Limited budget + limited IT + Group alignment — how</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12</a:t>
            </a:r>
          </a:p>
        </p:txBody>
      </p:sp>
      <p:sp>
        <p:nvSpPr>
          <p:cNvPr id="11" name="TextBox 10"/>
          <p:cNvSpPr txBox="1"/>
          <p:nvPr/>
        </p:nvSpPr>
        <p:spPr>
          <a:xfrm>
            <a:off x="640080" y="1417320"/>
            <a:ext cx="10972800" cy="4937760"/>
          </a:xfrm>
          <a:prstGeom prst="rect">
            <a:avLst/>
          </a:prstGeom>
          <a:noFill/>
        </p:spPr>
        <p:txBody>
          <a:bodyPr wrap="square">
            <a:spAutoFit/>
          </a:bodyPr>
          <a:lstStyle/>
          <a:p>
            <a:pPr>
              <a:lnSpc>
                <a:spcPct val="108000"/>
              </a:lnSpc>
              <a:spcAft>
                <a:spcPts val="800"/>
              </a:spcAft>
            </a:pPr>
            <a:r>
              <a:rPr sz="1500" b="1">
                <a:solidFill>
                  <a:srgbClr val="1F3A5F"/>
                </a:solidFill>
                <a:latin typeface="Calibri"/>
              </a:rPr>
              <a:t>▪   Use tools we have already paid for</a:t>
            </a:r>
          </a:p>
          <a:p>
            <a:pPr>
              <a:lnSpc>
                <a:spcPct val="108000"/>
              </a:lnSpc>
              <a:spcAft>
                <a:spcPts val="800"/>
              </a:spcAft>
            </a:pPr>
            <a:r>
              <a:rPr sz="1350" b="0">
                <a:solidFill>
                  <a:srgbClr val="5A6B7B"/>
                </a:solidFill>
                <a:latin typeface="Calibri"/>
              </a:rPr>
              <a:t>        –   Microsoft 365 — Power Query / Power BI / Power Automate — near-zero incremental cost for Phases 1–2</a:t>
            </a:r>
          </a:p>
          <a:p>
            <a:pPr>
              <a:lnSpc>
                <a:spcPct val="108000"/>
              </a:lnSpc>
              <a:spcAft>
                <a:spcPts val="800"/>
              </a:spcAft>
            </a:pPr>
            <a:r>
              <a:rPr sz="1500" b="1">
                <a:solidFill>
                  <a:srgbClr val="1F3A5F"/>
                </a:solidFill>
                <a:latin typeface="Calibri"/>
              </a:rPr>
              <a:t>▪   Do the zero-cost, high-value things first</a:t>
            </a:r>
          </a:p>
          <a:p>
            <a:pPr>
              <a:lnSpc>
                <a:spcPct val="108000"/>
              </a:lnSpc>
              <a:spcAft>
                <a:spcPts val="800"/>
              </a:spcAft>
            </a:pPr>
            <a:r>
              <a:rPr sz="1350" b="0">
                <a:solidFill>
                  <a:srgbClr val="5A6B7B"/>
                </a:solidFill>
                <a:latin typeface="Calibri"/>
              </a:rPr>
              <a:t>        –   The KPI data dictionary and process standardization cost nothing yet fix inconsistency</a:t>
            </a:r>
          </a:p>
          <a:p>
            <a:pPr>
              <a:lnSpc>
                <a:spcPct val="108000"/>
              </a:lnSpc>
              <a:spcAft>
                <a:spcPts val="800"/>
              </a:spcAft>
            </a:pPr>
            <a:r>
              <a:rPr sz="1500" b="1">
                <a:solidFill>
                  <a:srgbClr val="1F3A5F"/>
                </a:solidFill>
                <a:latin typeface="Calibri"/>
              </a:rPr>
              <a:t>▪   Low-code, minimal customization</a:t>
            </a:r>
          </a:p>
          <a:p>
            <a:pPr>
              <a:lnSpc>
                <a:spcPct val="108000"/>
              </a:lnSpc>
              <a:spcAft>
                <a:spcPts val="800"/>
              </a:spcAft>
            </a:pPr>
            <a:r>
              <a:rPr sz="1350" b="0">
                <a:solidFill>
                  <a:srgbClr val="5A6B7B"/>
                </a:solidFill>
                <a:latin typeface="Calibri"/>
              </a:rPr>
              <a:t>        –   Reduce IT dependency: business-led with IT guardrails</a:t>
            </a:r>
          </a:p>
          <a:p>
            <a:pPr>
              <a:lnSpc>
                <a:spcPct val="108000"/>
              </a:lnSpc>
              <a:spcAft>
                <a:spcPts val="800"/>
              </a:spcAft>
            </a:pPr>
            <a:r>
              <a:rPr sz="1500" b="1">
                <a:solidFill>
                  <a:srgbClr val="1F3A5F"/>
                </a:solidFill>
                <a:latin typeface="Calibri"/>
              </a:rPr>
              <a:t>▪   Reuse Group assets</a:t>
            </a:r>
          </a:p>
          <a:p>
            <a:pPr>
              <a:lnSpc>
                <a:spcPct val="108000"/>
              </a:lnSpc>
              <a:spcAft>
                <a:spcPts val="800"/>
              </a:spcAft>
            </a:pPr>
            <a:r>
              <a:rPr sz="1350" b="0">
                <a:solidFill>
                  <a:srgbClr val="5A6B7B"/>
                </a:solidFill>
                <a:latin typeface="Calibri"/>
              </a:rPr>
              <a:t>        –   Connect to the Group chart of accounts / SAP BW / SAC — cheaper and compliant by design</a:t>
            </a:r>
          </a:p>
          <a:p>
            <a:pPr>
              <a:lnSpc>
                <a:spcPct val="108000"/>
              </a:lnSpc>
              <a:spcAft>
                <a:spcPts val="800"/>
              </a:spcAft>
            </a:pPr>
            <a:r>
              <a:rPr sz="1500" b="1">
                <a:solidFill>
                  <a:srgbClr val="1F3A5F"/>
                </a:solidFill>
                <a:latin typeface="Calibri"/>
              </a:rPr>
              <a:t>▪   Trade results for budget</a:t>
            </a:r>
          </a:p>
          <a:p>
            <a:pPr>
              <a:lnSpc>
                <a:spcPct val="108000"/>
              </a:lnSpc>
              <a:spcAft>
                <a:spcPts val="800"/>
              </a:spcAft>
            </a:pPr>
            <a:r>
              <a:rPr sz="1350" b="0">
                <a:solidFill>
                  <a:srgbClr val="5A6B7B"/>
                </a:solidFill>
                <a:latin typeface="Calibri"/>
              </a:rPr>
              <a:t>        –   Deliver 90-day quick wins, then use 'Day 4 → Day 2, X hours saved' to request the next investment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11 · STAYING AHEAD</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The role is evolving — how I keep up</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13</a:t>
            </a:r>
          </a:p>
        </p:txBody>
      </p:sp>
      <p:sp>
        <p:nvSpPr>
          <p:cNvPr id="11" name="TextBox 10"/>
          <p:cNvSpPr txBox="1"/>
          <p:nvPr/>
        </p:nvSpPr>
        <p:spPr>
          <a:xfrm>
            <a:off x="640080" y="1554480"/>
            <a:ext cx="10972800" cy="4572000"/>
          </a:xfrm>
          <a:prstGeom prst="rect">
            <a:avLst/>
          </a:prstGeom>
          <a:noFill/>
        </p:spPr>
        <p:txBody>
          <a:bodyPr wrap="square">
            <a:spAutoFit/>
          </a:bodyPr>
          <a:lstStyle/>
          <a:p>
            <a:pPr>
              <a:lnSpc>
                <a:spcPct val="108000"/>
              </a:lnSpc>
              <a:spcAft>
                <a:spcPts val="1100"/>
              </a:spcAft>
            </a:pPr>
            <a:r>
              <a:rPr sz="1600" b="1">
                <a:solidFill>
                  <a:srgbClr val="1F3A5F"/>
                </a:solidFill>
                <a:latin typeface="Calibri"/>
              </a:rPr>
              <a:t>▪   Build a 'Finance + Data' T-shaped skill set</a:t>
            </a:r>
          </a:p>
          <a:p>
            <a:pPr>
              <a:lnSpc>
                <a:spcPct val="108000"/>
              </a:lnSpc>
              <a:spcAft>
                <a:spcPts val="1100"/>
              </a:spcAft>
            </a:pPr>
            <a:r>
              <a:rPr sz="1450" b="0">
                <a:solidFill>
                  <a:srgbClr val="5A6B7B"/>
                </a:solidFill>
                <a:latin typeface="Calibri"/>
              </a:rPr>
              <a:t>        –   Deepen data modelling, BI and analytics (Power BI / SQL / SAC certifications)</a:t>
            </a:r>
          </a:p>
          <a:p>
            <a:pPr>
              <a:lnSpc>
                <a:spcPct val="108000"/>
              </a:lnSpc>
              <a:spcAft>
                <a:spcPts val="1100"/>
              </a:spcAft>
            </a:pPr>
            <a:r>
              <a:rPr sz="1600" b="1">
                <a:solidFill>
                  <a:srgbClr val="1F3A5F"/>
                </a:solidFill>
                <a:latin typeface="Calibri"/>
              </a:rPr>
              <a:t>▪   Track the trends</a:t>
            </a:r>
          </a:p>
          <a:p>
            <a:pPr>
              <a:lnSpc>
                <a:spcPct val="108000"/>
              </a:lnSpc>
              <a:spcAft>
                <a:spcPts val="1100"/>
              </a:spcAft>
            </a:pPr>
            <a:r>
              <a:rPr sz="1450" b="0">
                <a:solidFill>
                  <a:srgbClr val="5A6B7B"/>
                </a:solidFill>
                <a:latin typeface="Calibri"/>
              </a:rPr>
              <a:t>        –   FP&amp;A automation, analytics and AI in finance; join the Group Controlling network and external communities</a:t>
            </a:r>
          </a:p>
          <a:p>
            <a:pPr>
              <a:lnSpc>
                <a:spcPct val="108000"/>
              </a:lnSpc>
              <a:spcAft>
                <a:spcPts val="1100"/>
              </a:spcAft>
            </a:pPr>
            <a:r>
              <a:rPr sz="1600" b="1">
                <a:solidFill>
                  <a:srgbClr val="1F3A5F"/>
                </a:solidFill>
                <a:latin typeface="Calibri"/>
              </a:rPr>
              <a:t>▪   Build lasting partnerships</a:t>
            </a:r>
          </a:p>
          <a:p>
            <a:pPr>
              <a:lnSpc>
                <a:spcPct val="108000"/>
              </a:lnSpc>
              <a:spcAft>
                <a:spcPts val="1100"/>
              </a:spcAft>
            </a:pPr>
            <a:r>
              <a:rPr sz="1450" b="0">
                <a:solidFill>
                  <a:srgbClr val="5A6B7B"/>
                </a:solidFill>
                <a:latin typeface="Calibri"/>
              </a:rPr>
              <a:t>        –   Work alongside IT and the business, not in isolation</a:t>
            </a:r>
          </a:p>
          <a:p>
            <a:pPr>
              <a:lnSpc>
                <a:spcPct val="108000"/>
              </a:lnSpc>
              <a:spcAft>
                <a:spcPts val="1100"/>
              </a:spcAft>
            </a:pPr>
            <a:r>
              <a:rPr sz="1600" b="1">
                <a:solidFill>
                  <a:srgbClr val="1F3A5F"/>
                </a:solidFill>
                <a:latin typeface="Calibri"/>
              </a:rPr>
              <a:t>▪   Keep a 'product mindset'</a:t>
            </a:r>
          </a:p>
          <a:p>
            <a:pPr>
              <a:lnSpc>
                <a:spcPct val="108000"/>
              </a:lnSpc>
              <a:spcAft>
                <a:spcPts val="1100"/>
              </a:spcAft>
            </a:pPr>
            <a:r>
              <a:rPr sz="1450" b="0">
                <a:solidFill>
                  <a:srgbClr val="5A6B7B"/>
                </a:solidFill>
                <a:latin typeface="Calibri"/>
              </a:rPr>
              <a:t>        –   Treat reports as a product to iterate, not a one-off deliverable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12 · FUTURE VISION</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AI runs the routine — people manage it and create</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14</a:t>
            </a:r>
          </a:p>
        </p:txBody>
      </p:sp>
      <p:sp>
        <p:nvSpPr>
          <p:cNvPr id="11" name="Rounded Rectangle 10"/>
          <p:cNvSpPr/>
          <p:nvPr/>
        </p:nvSpPr>
        <p:spPr>
          <a:xfrm>
            <a:off x="640080" y="1207008"/>
            <a:ext cx="10908792" cy="1225296"/>
          </a:xfrm>
          <a:prstGeom prst="roundRect">
            <a:avLst/>
          </a:prstGeom>
          <a:solidFill>
            <a:srgbClr val="F2F5F8"/>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1207008"/>
            <a:ext cx="146304" cy="1225296"/>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280160"/>
            <a:ext cx="10332720" cy="310896"/>
          </a:xfrm>
          <a:prstGeom prst="rect">
            <a:avLst/>
          </a:prstGeom>
          <a:noFill/>
        </p:spPr>
        <p:txBody>
          <a:bodyPr wrap="square" anchor="t">
            <a:spAutoFit/>
          </a:bodyPr>
          <a:lstStyle/>
          <a:p>
            <a:pPr algn="l">
              <a:lnSpc>
                <a:spcPct val="105000"/>
              </a:lnSpc>
              <a:spcAft>
                <a:spcPts val="600"/>
              </a:spcAft>
            </a:pPr>
            <a:r>
              <a:rPr sz="1300" b="1">
                <a:solidFill>
                  <a:srgbClr val="1F3A5F"/>
                </a:solidFill>
                <a:latin typeface="Calibri"/>
              </a:rPr>
              <a:t>PEOPLE  ·  </a:t>
            </a:r>
            <a:r>
              <a:rPr sz="1300" b="1">
                <a:solidFill>
                  <a:srgbClr val="5A6B7B"/>
                </a:solidFill>
                <a:latin typeface="Calibri"/>
              </a:rPr>
              <a:t>govern, maintain &amp; elevate the AI</a:t>
            </a:r>
          </a:p>
        </p:txBody>
      </p:sp>
      <p:sp>
        <p:nvSpPr>
          <p:cNvPr id="14" name="Rounded Rectangle 13"/>
          <p:cNvSpPr/>
          <p:nvPr/>
        </p:nvSpPr>
        <p:spPr>
          <a:xfrm>
            <a:off x="914400" y="1664208"/>
            <a:ext cx="2542032" cy="658368"/>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1719072"/>
            <a:ext cx="2322576" cy="274320"/>
          </a:xfrm>
          <a:prstGeom prst="rect">
            <a:avLst/>
          </a:prstGeom>
          <a:noFill/>
        </p:spPr>
        <p:txBody>
          <a:bodyPr wrap="square" anchor="t">
            <a:spAutoFit/>
          </a:bodyPr>
          <a:lstStyle/>
          <a:p>
            <a:pPr algn="l">
              <a:lnSpc>
                <a:spcPct val="105000"/>
              </a:lnSpc>
              <a:spcAft>
                <a:spcPts val="600"/>
              </a:spcAft>
            </a:pPr>
            <a:r>
              <a:rPr sz="1150" b="1">
                <a:solidFill>
                  <a:srgbClr val="FFFFFF"/>
                </a:solidFill>
                <a:latin typeface="Calibri"/>
              </a:rPr>
              <a:t>Govern &amp; assure</a:t>
            </a:r>
          </a:p>
        </p:txBody>
      </p:sp>
      <p:sp>
        <p:nvSpPr>
          <p:cNvPr id="16" name="TextBox 15"/>
          <p:cNvSpPr txBox="1"/>
          <p:nvPr/>
        </p:nvSpPr>
        <p:spPr>
          <a:xfrm>
            <a:off x="1024128" y="2002536"/>
            <a:ext cx="2322576" cy="274320"/>
          </a:xfrm>
          <a:prstGeom prst="rect">
            <a:avLst/>
          </a:prstGeom>
          <a:noFill/>
        </p:spPr>
        <p:txBody>
          <a:bodyPr wrap="square" anchor="t">
            <a:spAutoFit/>
          </a:bodyPr>
          <a:lstStyle/>
          <a:p>
            <a:pPr algn="l">
              <a:lnSpc>
                <a:spcPct val="105000"/>
              </a:lnSpc>
              <a:spcAft>
                <a:spcPts val="600"/>
              </a:spcAft>
            </a:pPr>
            <a:r>
              <a:rPr sz="900" b="0">
                <a:solidFill>
                  <a:srgbClr val="C9D6E4"/>
                </a:solidFill>
                <a:latin typeface="Calibri"/>
              </a:rPr>
              <a:t>controls, ethics, sign-off</a:t>
            </a:r>
          </a:p>
        </p:txBody>
      </p:sp>
      <p:sp>
        <p:nvSpPr>
          <p:cNvPr id="17" name="Rounded Rectangle 16"/>
          <p:cNvSpPr/>
          <p:nvPr/>
        </p:nvSpPr>
        <p:spPr>
          <a:xfrm>
            <a:off x="3575304" y="1664208"/>
            <a:ext cx="2542032" cy="658368"/>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85032" y="1719072"/>
            <a:ext cx="2322576" cy="274320"/>
          </a:xfrm>
          <a:prstGeom prst="rect">
            <a:avLst/>
          </a:prstGeom>
          <a:noFill/>
        </p:spPr>
        <p:txBody>
          <a:bodyPr wrap="square" anchor="t">
            <a:spAutoFit/>
          </a:bodyPr>
          <a:lstStyle/>
          <a:p>
            <a:pPr algn="l">
              <a:lnSpc>
                <a:spcPct val="105000"/>
              </a:lnSpc>
              <a:spcAft>
                <a:spcPts val="600"/>
              </a:spcAft>
            </a:pPr>
            <a:r>
              <a:rPr sz="1150" b="1">
                <a:solidFill>
                  <a:srgbClr val="FFFFFF"/>
                </a:solidFill>
                <a:latin typeface="Calibri"/>
              </a:rPr>
              <a:t>Manage &amp; maintain AI</a:t>
            </a:r>
          </a:p>
        </p:txBody>
      </p:sp>
      <p:sp>
        <p:nvSpPr>
          <p:cNvPr id="19" name="TextBox 18"/>
          <p:cNvSpPr txBox="1"/>
          <p:nvPr/>
        </p:nvSpPr>
        <p:spPr>
          <a:xfrm>
            <a:off x="3685032" y="2002536"/>
            <a:ext cx="2322576" cy="274320"/>
          </a:xfrm>
          <a:prstGeom prst="rect">
            <a:avLst/>
          </a:prstGeom>
          <a:noFill/>
        </p:spPr>
        <p:txBody>
          <a:bodyPr wrap="square" anchor="t">
            <a:spAutoFit/>
          </a:bodyPr>
          <a:lstStyle/>
          <a:p>
            <a:pPr algn="l">
              <a:lnSpc>
                <a:spcPct val="105000"/>
              </a:lnSpc>
              <a:spcAft>
                <a:spcPts val="600"/>
              </a:spcAft>
            </a:pPr>
            <a:r>
              <a:rPr sz="900" b="0">
                <a:solidFill>
                  <a:srgbClr val="C9D6E4"/>
                </a:solidFill>
                <a:latin typeface="Calibri"/>
              </a:rPr>
              <a:t>monitor, correct, retrain</a:t>
            </a:r>
          </a:p>
        </p:txBody>
      </p:sp>
      <p:sp>
        <p:nvSpPr>
          <p:cNvPr id="20" name="Rounded Rectangle 19"/>
          <p:cNvSpPr/>
          <p:nvPr/>
        </p:nvSpPr>
        <p:spPr>
          <a:xfrm>
            <a:off x="6236208" y="1664208"/>
            <a:ext cx="2542032" cy="658368"/>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1719072"/>
            <a:ext cx="2322576" cy="274320"/>
          </a:xfrm>
          <a:prstGeom prst="rect">
            <a:avLst/>
          </a:prstGeom>
          <a:noFill/>
        </p:spPr>
        <p:txBody>
          <a:bodyPr wrap="square" anchor="t">
            <a:spAutoFit/>
          </a:bodyPr>
          <a:lstStyle/>
          <a:p>
            <a:pPr algn="l">
              <a:lnSpc>
                <a:spcPct val="105000"/>
              </a:lnSpc>
              <a:spcAft>
                <a:spcPts val="600"/>
              </a:spcAft>
            </a:pPr>
            <a:r>
              <a:rPr sz="1150" b="1">
                <a:solidFill>
                  <a:srgbClr val="FFFFFF"/>
                </a:solidFill>
                <a:latin typeface="Calibri"/>
              </a:rPr>
              <a:t>Improve AI  ✦</a:t>
            </a:r>
          </a:p>
        </p:txBody>
      </p:sp>
      <p:sp>
        <p:nvSpPr>
          <p:cNvPr id="22" name="TextBox 21"/>
          <p:cNvSpPr txBox="1"/>
          <p:nvPr/>
        </p:nvSpPr>
        <p:spPr>
          <a:xfrm>
            <a:off x="6345936" y="2002536"/>
            <a:ext cx="2322576" cy="274320"/>
          </a:xfrm>
          <a:prstGeom prst="rect">
            <a:avLst/>
          </a:prstGeom>
          <a:noFill/>
        </p:spPr>
        <p:txBody>
          <a:bodyPr wrap="square" anchor="t">
            <a:spAutoFit/>
          </a:bodyPr>
          <a:lstStyle/>
          <a:p>
            <a:pPr algn="l">
              <a:lnSpc>
                <a:spcPct val="105000"/>
              </a:lnSpc>
              <a:spcAft>
                <a:spcPts val="600"/>
              </a:spcAft>
            </a:pPr>
            <a:r>
              <a:rPr sz="900" b="0">
                <a:solidFill>
                  <a:srgbClr val="C9D6E4"/>
                </a:solidFill>
                <a:latin typeface="Calibri"/>
              </a:rPr>
              <a:t>creativity: models, prompts, logic</a:t>
            </a:r>
          </a:p>
        </p:txBody>
      </p:sp>
      <p:sp>
        <p:nvSpPr>
          <p:cNvPr id="23" name="Rounded Rectangle 22"/>
          <p:cNvSpPr/>
          <p:nvPr/>
        </p:nvSpPr>
        <p:spPr>
          <a:xfrm>
            <a:off x="8897112" y="1664208"/>
            <a:ext cx="2542032" cy="658368"/>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1719072"/>
            <a:ext cx="2322576" cy="274320"/>
          </a:xfrm>
          <a:prstGeom prst="rect">
            <a:avLst/>
          </a:prstGeom>
          <a:noFill/>
        </p:spPr>
        <p:txBody>
          <a:bodyPr wrap="square" anchor="t">
            <a:spAutoFit/>
          </a:bodyPr>
          <a:lstStyle/>
          <a:p>
            <a:pPr algn="l">
              <a:lnSpc>
                <a:spcPct val="105000"/>
              </a:lnSpc>
              <a:spcAft>
                <a:spcPts val="600"/>
              </a:spcAft>
            </a:pPr>
            <a:r>
              <a:rPr sz="1150" b="1">
                <a:solidFill>
                  <a:srgbClr val="FFFFFF"/>
                </a:solidFill>
                <a:latin typeface="Calibri"/>
              </a:rPr>
              <a:t>Business partnering</a:t>
            </a:r>
          </a:p>
        </p:txBody>
      </p:sp>
      <p:sp>
        <p:nvSpPr>
          <p:cNvPr id="25" name="TextBox 24"/>
          <p:cNvSpPr txBox="1"/>
          <p:nvPr/>
        </p:nvSpPr>
        <p:spPr>
          <a:xfrm>
            <a:off x="9006840" y="2002536"/>
            <a:ext cx="2322576" cy="274320"/>
          </a:xfrm>
          <a:prstGeom prst="rect">
            <a:avLst/>
          </a:prstGeom>
          <a:noFill/>
        </p:spPr>
        <p:txBody>
          <a:bodyPr wrap="square" anchor="t">
            <a:spAutoFit/>
          </a:bodyPr>
          <a:lstStyle/>
          <a:p>
            <a:pPr algn="l">
              <a:lnSpc>
                <a:spcPct val="105000"/>
              </a:lnSpc>
              <a:spcAft>
                <a:spcPts val="600"/>
              </a:spcAft>
            </a:pPr>
            <a:r>
              <a:rPr sz="900" b="0">
                <a:solidFill>
                  <a:srgbClr val="C9D6E4"/>
                </a:solidFill>
                <a:latin typeface="Calibri"/>
              </a:rPr>
              <a:t>advise, decide, add judgment</a:t>
            </a:r>
          </a:p>
        </p:txBody>
      </p:sp>
      <p:sp>
        <p:nvSpPr>
          <p:cNvPr id="26" name="Down Arrow 25"/>
          <p:cNvSpPr/>
          <p:nvPr/>
        </p:nvSpPr>
        <p:spPr>
          <a:xfrm>
            <a:off x="2834640" y="2487168"/>
            <a:ext cx="457200" cy="548640"/>
          </a:xfrm>
          <a:prstGeom prst="downArrow">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3280" y="2560320"/>
            <a:ext cx="2926080" cy="411480"/>
          </a:xfrm>
          <a:prstGeom prst="rect">
            <a:avLst/>
          </a:prstGeom>
          <a:noFill/>
        </p:spPr>
        <p:txBody>
          <a:bodyPr wrap="square" anchor="ctr">
            <a:spAutoFit/>
          </a:bodyPr>
          <a:lstStyle/>
          <a:p>
            <a:pPr algn="l">
              <a:lnSpc>
                <a:spcPct val="105000"/>
              </a:lnSpc>
              <a:spcAft>
                <a:spcPts val="600"/>
              </a:spcAft>
            </a:pPr>
            <a:r>
              <a:rPr sz="1050" b="1">
                <a:solidFill>
                  <a:srgbClr val="2E6DA4"/>
                </a:solidFill>
                <a:latin typeface="Calibri"/>
              </a:rPr>
              <a:t>Guide · Govern · Improve</a:t>
            </a:r>
          </a:p>
        </p:txBody>
      </p:sp>
      <p:sp>
        <p:nvSpPr>
          <p:cNvPr id="28" name="Up Arrow 27"/>
          <p:cNvSpPr/>
          <p:nvPr/>
        </p:nvSpPr>
        <p:spPr>
          <a:xfrm>
            <a:off x="8915400" y="2487168"/>
            <a:ext cx="457200" cy="548640"/>
          </a:xfrm>
          <a:prstGeom prst="upArrow">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560320"/>
            <a:ext cx="2834640" cy="411480"/>
          </a:xfrm>
          <a:prstGeom prst="rect">
            <a:avLst/>
          </a:prstGeom>
          <a:noFill/>
        </p:spPr>
        <p:txBody>
          <a:bodyPr wrap="square" anchor="ctr">
            <a:spAutoFit/>
          </a:bodyPr>
          <a:lstStyle/>
          <a:p>
            <a:pPr algn="r">
              <a:lnSpc>
                <a:spcPct val="105000"/>
              </a:lnSpc>
              <a:spcAft>
                <a:spcPts val="600"/>
              </a:spcAft>
            </a:pPr>
            <a:r>
              <a:rPr sz="1050" b="1">
                <a:solidFill>
                  <a:srgbClr val="178F80"/>
                </a:solidFill>
                <a:latin typeface="Calibri"/>
              </a:rPr>
              <a:t>Results · Exceptions · Insights</a:t>
            </a:r>
          </a:p>
        </p:txBody>
      </p:sp>
      <p:sp>
        <p:nvSpPr>
          <p:cNvPr id="30" name="Rounded Rectangle 29"/>
          <p:cNvSpPr/>
          <p:nvPr/>
        </p:nvSpPr>
        <p:spPr>
          <a:xfrm>
            <a:off x="2103120" y="3127248"/>
            <a:ext cx="7982712" cy="1024128"/>
          </a:xfrm>
          <a:prstGeom prst="round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331720" y="3346704"/>
            <a:ext cx="603504" cy="603504"/>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31720" y="3429000"/>
            <a:ext cx="603504" cy="457200"/>
          </a:xfrm>
          <a:prstGeom prst="rect">
            <a:avLst/>
          </a:prstGeom>
          <a:noFill/>
        </p:spPr>
        <p:txBody>
          <a:bodyPr wrap="square" anchor="t">
            <a:spAutoFit/>
          </a:bodyPr>
          <a:lstStyle/>
          <a:p>
            <a:pPr algn="ctr">
              <a:lnSpc>
                <a:spcPct val="105000"/>
              </a:lnSpc>
              <a:spcAft>
                <a:spcPts val="600"/>
              </a:spcAft>
            </a:pPr>
            <a:r>
              <a:rPr sz="1600" b="1">
                <a:solidFill>
                  <a:srgbClr val="FFFFFF"/>
                </a:solidFill>
                <a:latin typeface="Calibri"/>
              </a:rPr>
              <a:t>AI</a:t>
            </a:r>
          </a:p>
        </p:txBody>
      </p:sp>
      <p:sp>
        <p:nvSpPr>
          <p:cNvPr id="33" name="TextBox 32"/>
          <p:cNvSpPr txBox="1"/>
          <p:nvPr/>
        </p:nvSpPr>
        <p:spPr>
          <a:xfrm>
            <a:off x="3154680" y="3273552"/>
            <a:ext cx="6766560" cy="457200"/>
          </a:xfrm>
          <a:prstGeom prst="rect">
            <a:avLst/>
          </a:prstGeom>
          <a:noFill/>
        </p:spPr>
        <p:txBody>
          <a:bodyPr wrap="square" anchor="ctr">
            <a:spAutoFit/>
          </a:bodyPr>
          <a:lstStyle/>
          <a:p>
            <a:pPr algn="l">
              <a:lnSpc>
                <a:spcPct val="105000"/>
              </a:lnSpc>
              <a:spcAft>
                <a:spcPts val="600"/>
              </a:spcAft>
            </a:pPr>
            <a:r>
              <a:rPr sz="1800" b="1">
                <a:solidFill>
                  <a:srgbClr val="FFFFFF"/>
                </a:solidFill>
                <a:latin typeface="Calibri"/>
              </a:rPr>
              <a:t>AUTONOMOUS  AI  FINANCE  ENGINE</a:t>
            </a:r>
          </a:p>
        </p:txBody>
      </p:sp>
      <p:sp>
        <p:nvSpPr>
          <p:cNvPr id="34" name="TextBox 33"/>
          <p:cNvSpPr txBox="1"/>
          <p:nvPr/>
        </p:nvSpPr>
        <p:spPr>
          <a:xfrm>
            <a:off x="3154680" y="3703320"/>
            <a:ext cx="6766560" cy="384048"/>
          </a:xfrm>
          <a:prstGeom prst="rect">
            <a:avLst/>
          </a:prstGeom>
          <a:noFill/>
        </p:spPr>
        <p:txBody>
          <a:bodyPr wrap="square" anchor="ctr">
            <a:spAutoFit/>
          </a:bodyPr>
          <a:lstStyle/>
          <a:p>
            <a:pPr algn="l">
              <a:lnSpc>
                <a:spcPct val="105000"/>
              </a:lnSpc>
              <a:spcAft>
                <a:spcPts val="600"/>
              </a:spcAft>
            </a:pPr>
            <a:r>
              <a:rPr sz="1200" b="0">
                <a:solidFill>
                  <a:srgbClr val="E6F4F1"/>
                </a:solidFill>
                <a:latin typeface="Calibri"/>
              </a:rPr>
              <a:t>runs repetitive finance processes end-to-end, 24/7</a:t>
            </a:r>
          </a:p>
        </p:txBody>
      </p:sp>
      <p:sp>
        <p:nvSpPr>
          <p:cNvPr id="35" name="Down Arrow 34"/>
          <p:cNvSpPr/>
          <p:nvPr/>
        </p:nvSpPr>
        <p:spPr>
          <a:xfrm>
            <a:off x="5806440" y="4187952"/>
            <a:ext cx="566928" cy="310896"/>
          </a:xfrm>
          <a:prstGeom prst="down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187952"/>
            <a:ext cx="1828800" cy="310896"/>
          </a:xfrm>
          <a:prstGeom prst="rect">
            <a:avLst/>
          </a:prstGeom>
          <a:noFill/>
        </p:spPr>
        <p:txBody>
          <a:bodyPr wrap="square" anchor="ctr">
            <a:spAutoFit/>
          </a:bodyPr>
          <a:lstStyle/>
          <a:p>
            <a:pPr algn="l">
              <a:lnSpc>
                <a:spcPct val="105000"/>
              </a:lnSpc>
              <a:spcAft>
                <a:spcPts val="600"/>
              </a:spcAft>
            </a:pPr>
            <a:r>
              <a:rPr sz="1050" b="1">
                <a:solidFill>
                  <a:srgbClr val="1F3A5F"/>
                </a:solidFill>
                <a:latin typeface="Calibri"/>
              </a:rPr>
              <a:t>executes</a:t>
            </a:r>
          </a:p>
        </p:txBody>
      </p:sp>
      <p:sp>
        <p:nvSpPr>
          <p:cNvPr id="37" name="Rounded Rectangle 36"/>
          <p:cNvSpPr/>
          <p:nvPr/>
        </p:nvSpPr>
        <p:spPr>
          <a:xfrm>
            <a:off x="640080" y="4553712"/>
            <a:ext cx="1737360" cy="1188720"/>
          </a:xfrm>
          <a:prstGeom prst="round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4553712"/>
            <a:ext cx="1737360" cy="109728"/>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773168"/>
            <a:ext cx="1554480" cy="502920"/>
          </a:xfrm>
          <a:prstGeom prst="rect">
            <a:avLst/>
          </a:prstGeom>
          <a:noFill/>
        </p:spPr>
        <p:txBody>
          <a:bodyPr wrap="square" anchor="t">
            <a:spAutoFit/>
          </a:bodyPr>
          <a:lstStyle/>
          <a:p>
            <a:pPr algn="ctr">
              <a:lnSpc>
                <a:spcPct val="100000"/>
              </a:lnSpc>
              <a:spcAft>
                <a:spcPts val="600"/>
              </a:spcAft>
            </a:pPr>
            <a:r>
              <a:rPr sz="1150" b="1">
                <a:solidFill>
                  <a:srgbClr val="1F3A5F"/>
                </a:solidFill>
                <a:latin typeface="Calibri"/>
              </a:rPr>
              <a:t>Monthly Close</a:t>
            </a:r>
          </a:p>
        </p:txBody>
      </p:sp>
      <p:sp>
        <p:nvSpPr>
          <p:cNvPr id="40" name="TextBox 39"/>
          <p:cNvSpPr txBox="1"/>
          <p:nvPr/>
        </p:nvSpPr>
        <p:spPr>
          <a:xfrm>
            <a:off x="731520" y="5212080"/>
            <a:ext cx="1554480" cy="457200"/>
          </a:xfrm>
          <a:prstGeom prst="rect">
            <a:avLst/>
          </a:prstGeom>
          <a:noFill/>
        </p:spPr>
        <p:txBody>
          <a:bodyPr wrap="square" anchor="t">
            <a:spAutoFit/>
          </a:bodyPr>
          <a:lstStyle/>
          <a:p>
            <a:pPr algn="ctr">
              <a:lnSpc>
                <a:spcPct val="100000"/>
              </a:lnSpc>
              <a:spcAft>
                <a:spcPts val="600"/>
              </a:spcAft>
            </a:pPr>
            <a:r>
              <a:rPr sz="850" b="0">
                <a:solidFill>
                  <a:srgbClr val="5A6B7B"/>
                </a:solidFill>
                <a:latin typeface="Calibri"/>
              </a:rPr>
              <a:t>auto journals · accruals · consolidation</a:t>
            </a:r>
          </a:p>
        </p:txBody>
      </p:sp>
      <p:sp>
        <p:nvSpPr>
          <p:cNvPr id="41" name="Rounded Rectangle 40"/>
          <p:cNvSpPr/>
          <p:nvPr/>
        </p:nvSpPr>
        <p:spPr>
          <a:xfrm>
            <a:off x="2478024" y="4553712"/>
            <a:ext cx="1737360" cy="1188720"/>
          </a:xfrm>
          <a:prstGeom prst="round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478024" y="4553712"/>
            <a:ext cx="1737360" cy="10972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464" y="4773168"/>
            <a:ext cx="1554480" cy="502920"/>
          </a:xfrm>
          <a:prstGeom prst="rect">
            <a:avLst/>
          </a:prstGeom>
          <a:noFill/>
        </p:spPr>
        <p:txBody>
          <a:bodyPr wrap="square" anchor="t">
            <a:spAutoFit/>
          </a:bodyPr>
          <a:lstStyle/>
          <a:p>
            <a:pPr algn="ctr">
              <a:lnSpc>
                <a:spcPct val="100000"/>
              </a:lnSpc>
              <a:spcAft>
                <a:spcPts val="600"/>
              </a:spcAft>
            </a:pPr>
            <a:r>
              <a:rPr sz="1150" b="1">
                <a:solidFill>
                  <a:srgbClr val="1F3A5F"/>
                </a:solidFill>
                <a:latin typeface="Calibri"/>
              </a:rPr>
              <a:t>Plan &amp; Forecast</a:t>
            </a:r>
          </a:p>
        </p:txBody>
      </p:sp>
      <p:sp>
        <p:nvSpPr>
          <p:cNvPr id="44" name="TextBox 43"/>
          <p:cNvSpPr txBox="1"/>
          <p:nvPr/>
        </p:nvSpPr>
        <p:spPr>
          <a:xfrm>
            <a:off x="2569464" y="5212080"/>
            <a:ext cx="1554480" cy="457200"/>
          </a:xfrm>
          <a:prstGeom prst="rect">
            <a:avLst/>
          </a:prstGeom>
          <a:noFill/>
        </p:spPr>
        <p:txBody>
          <a:bodyPr wrap="square" anchor="t">
            <a:spAutoFit/>
          </a:bodyPr>
          <a:lstStyle/>
          <a:p>
            <a:pPr algn="ctr">
              <a:lnSpc>
                <a:spcPct val="100000"/>
              </a:lnSpc>
              <a:spcAft>
                <a:spcPts val="600"/>
              </a:spcAft>
            </a:pPr>
            <a:r>
              <a:rPr sz="850" b="0">
                <a:solidFill>
                  <a:srgbClr val="5A6B7B"/>
                </a:solidFill>
                <a:latin typeface="Calibri"/>
              </a:rPr>
              <a:t>driver-based · rolling · scenarios</a:t>
            </a:r>
          </a:p>
        </p:txBody>
      </p:sp>
      <p:sp>
        <p:nvSpPr>
          <p:cNvPr id="45" name="Rounded Rectangle 44"/>
          <p:cNvSpPr/>
          <p:nvPr/>
        </p:nvSpPr>
        <p:spPr>
          <a:xfrm>
            <a:off x="4315968" y="4553712"/>
            <a:ext cx="1737360" cy="1188720"/>
          </a:xfrm>
          <a:prstGeom prst="round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315968" y="4553712"/>
            <a:ext cx="1737360" cy="1097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07408" y="4773168"/>
            <a:ext cx="1554480" cy="502920"/>
          </a:xfrm>
          <a:prstGeom prst="rect">
            <a:avLst/>
          </a:prstGeom>
          <a:noFill/>
        </p:spPr>
        <p:txBody>
          <a:bodyPr wrap="square" anchor="t">
            <a:spAutoFit/>
          </a:bodyPr>
          <a:lstStyle/>
          <a:p>
            <a:pPr algn="ctr">
              <a:lnSpc>
                <a:spcPct val="100000"/>
              </a:lnSpc>
              <a:spcAft>
                <a:spcPts val="600"/>
              </a:spcAft>
            </a:pPr>
            <a:r>
              <a:rPr sz="1150" b="1">
                <a:solidFill>
                  <a:srgbClr val="1F3A5F"/>
                </a:solidFill>
                <a:latin typeface="Calibri"/>
              </a:rPr>
              <a:t>Expense Accruals</a:t>
            </a:r>
          </a:p>
        </p:txBody>
      </p:sp>
      <p:sp>
        <p:nvSpPr>
          <p:cNvPr id="48" name="TextBox 47"/>
          <p:cNvSpPr txBox="1"/>
          <p:nvPr/>
        </p:nvSpPr>
        <p:spPr>
          <a:xfrm>
            <a:off x="4407408" y="5212080"/>
            <a:ext cx="1554480" cy="457200"/>
          </a:xfrm>
          <a:prstGeom prst="rect">
            <a:avLst/>
          </a:prstGeom>
          <a:noFill/>
        </p:spPr>
        <p:txBody>
          <a:bodyPr wrap="square" anchor="t">
            <a:spAutoFit/>
          </a:bodyPr>
          <a:lstStyle/>
          <a:p>
            <a:pPr algn="ctr">
              <a:lnSpc>
                <a:spcPct val="100000"/>
              </a:lnSpc>
              <a:spcAft>
                <a:spcPts val="600"/>
              </a:spcAft>
            </a:pPr>
            <a:r>
              <a:rPr sz="850" b="0">
                <a:solidFill>
                  <a:srgbClr val="5A6B7B"/>
                </a:solidFill>
                <a:latin typeface="Calibri"/>
              </a:rPr>
              <a:t>rule + ML estimates, auto-posted</a:t>
            </a:r>
          </a:p>
        </p:txBody>
      </p:sp>
      <p:sp>
        <p:nvSpPr>
          <p:cNvPr id="49" name="Rounded Rectangle 48"/>
          <p:cNvSpPr/>
          <p:nvPr/>
        </p:nvSpPr>
        <p:spPr>
          <a:xfrm>
            <a:off x="6153912" y="4553712"/>
            <a:ext cx="1737360" cy="1188720"/>
          </a:xfrm>
          <a:prstGeom prst="round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53912" y="4553712"/>
            <a:ext cx="1737360" cy="109728"/>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5352" y="4773168"/>
            <a:ext cx="1554480" cy="502920"/>
          </a:xfrm>
          <a:prstGeom prst="rect">
            <a:avLst/>
          </a:prstGeom>
          <a:noFill/>
        </p:spPr>
        <p:txBody>
          <a:bodyPr wrap="square" anchor="t">
            <a:spAutoFit/>
          </a:bodyPr>
          <a:lstStyle/>
          <a:p>
            <a:pPr algn="ctr">
              <a:lnSpc>
                <a:spcPct val="100000"/>
              </a:lnSpc>
              <a:spcAft>
                <a:spcPts val="600"/>
              </a:spcAft>
            </a:pPr>
            <a:r>
              <a:rPr sz="1150" b="1">
                <a:solidFill>
                  <a:srgbClr val="1F3A5F"/>
                </a:solidFill>
                <a:latin typeface="Calibri"/>
              </a:rPr>
              <a:t>Reconciliations</a:t>
            </a:r>
          </a:p>
        </p:txBody>
      </p:sp>
      <p:sp>
        <p:nvSpPr>
          <p:cNvPr id="52" name="TextBox 51"/>
          <p:cNvSpPr txBox="1"/>
          <p:nvPr/>
        </p:nvSpPr>
        <p:spPr>
          <a:xfrm>
            <a:off x="6245352" y="5212080"/>
            <a:ext cx="1554480" cy="457200"/>
          </a:xfrm>
          <a:prstGeom prst="rect">
            <a:avLst/>
          </a:prstGeom>
          <a:noFill/>
        </p:spPr>
        <p:txBody>
          <a:bodyPr wrap="square" anchor="t">
            <a:spAutoFit/>
          </a:bodyPr>
          <a:lstStyle/>
          <a:p>
            <a:pPr algn="ctr">
              <a:lnSpc>
                <a:spcPct val="100000"/>
              </a:lnSpc>
              <a:spcAft>
                <a:spcPts val="600"/>
              </a:spcAft>
            </a:pPr>
            <a:r>
              <a:rPr sz="850" b="0">
                <a:solidFill>
                  <a:srgbClr val="5A6B7B"/>
                </a:solidFill>
                <a:latin typeface="Calibri"/>
              </a:rPr>
              <a:t>auto-match · flag &amp; explain breaks</a:t>
            </a:r>
          </a:p>
        </p:txBody>
      </p:sp>
      <p:sp>
        <p:nvSpPr>
          <p:cNvPr id="53" name="Rounded Rectangle 52"/>
          <p:cNvSpPr/>
          <p:nvPr/>
        </p:nvSpPr>
        <p:spPr>
          <a:xfrm>
            <a:off x="7991856" y="4553712"/>
            <a:ext cx="1737360" cy="1188720"/>
          </a:xfrm>
          <a:prstGeom prst="round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991856" y="4553712"/>
            <a:ext cx="1737360" cy="10972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83296" y="4773168"/>
            <a:ext cx="1554480" cy="502920"/>
          </a:xfrm>
          <a:prstGeom prst="rect">
            <a:avLst/>
          </a:prstGeom>
          <a:noFill/>
        </p:spPr>
        <p:txBody>
          <a:bodyPr wrap="square" anchor="t">
            <a:spAutoFit/>
          </a:bodyPr>
          <a:lstStyle/>
          <a:p>
            <a:pPr algn="ctr">
              <a:lnSpc>
                <a:spcPct val="100000"/>
              </a:lnSpc>
              <a:spcAft>
                <a:spcPts val="600"/>
              </a:spcAft>
            </a:pPr>
            <a:r>
              <a:rPr sz="1150" b="1">
                <a:solidFill>
                  <a:srgbClr val="1F3A5F"/>
                </a:solidFill>
                <a:latin typeface="Calibri"/>
              </a:rPr>
              <a:t>Mgmt Reporting</a:t>
            </a:r>
          </a:p>
        </p:txBody>
      </p:sp>
      <p:sp>
        <p:nvSpPr>
          <p:cNvPr id="56" name="TextBox 55"/>
          <p:cNvSpPr txBox="1"/>
          <p:nvPr/>
        </p:nvSpPr>
        <p:spPr>
          <a:xfrm>
            <a:off x="8083296" y="5212080"/>
            <a:ext cx="1554480" cy="457200"/>
          </a:xfrm>
          <a:prstGeom prst="rect">
            <a:avLst/>
          </a:prstGeom>
          <a:noFill/>
        </p:spPr>
        <p:txBody>
          <a:bodyPr wrap="square" anchor="t">
            <a:spAutoFit/>
          </a:bodyPr>
          <a:lstStyle/>
          <a:p>
            <a:pPr algn="ctr">
              <a:lnSpc>
                <a:spcPct val="100000"/>
              </a:lnSpc>
              <a:spcAft>
                <a:spcPts val="600"/>
              </a:spcAft>
            </a:pPr>
            <a:r>
              <a:rPr sz="850" b="0">
                <a:solidFill>
                  <a:srgbClr val="5A6B7B"/>
                </a:solidFill>
                <a:latin typeface="Calibri"/>
              </a:rPr>
              <a:t>auto-generated &amp; narrated</a:t>
            </a:r>
          </a:p>
        </p:txBody>
      </p:sp>
      <p:sp>
        <p:nvSpPr>
          <p:cNvPr id="57" name="Rounded Rectangle 56"/>
          <p:cNvSpPr/>
          <p:nvPr/>
        </p:nvSpPr>
        <p:spPr>
          <a:xfrm>
            <a:off x="9829800" y="4553712"/>
            <a:ext cx="1737360" cy="1188720"/>
          </a:xfrm>
          <a:prstGeom prst="round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829800" y="4553712"/>
            <a:ext cx="1737360" cy="1097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921240" y="4773168"/>
            <a:ext cx="1554480" cy="502920"/>
          </a:xfrm>
          <a:prstGeom prst="rect">
            <a:avLst/>
          </a:prstGeom>
          <a:noFill/>
        </p:spPr>
        <p:txBody>
          <a:bodyPr wrap="square" anchor="t">
            <a:spAutoFit/>
          </a:bodyPr>
          <a:lstStyle/>
          <a:p>
            <a:pPr algn="ctr">
              <a:lnSpc>
                <a:spcPct val="100000"/>
              </a:lnSpc>
              <a:spcAft>
                <a:spcPts val="600"/>
              </a:spcAft>
            </a:pPr>
            <a:r>
              <a:rPr sz="1150" b="1">
                <a:solidFill>
                  <a:srgbClr val="1F3A5F"/>
                </a:solidFill>
                <a:latin typeface="Calibri"/>
              </a:rPr>
              <a:t>Anomaly &amp; Controls</a:t>
            </a:r>
          </a:p>
        </p:txBody>
      </p:sp>
      <p:sp>
        <p:nvSpPr>
          <p:cNvPr id="60" name="TextBox 59"/>
          <p:cNvSpPr txBox="1"/>
          <p:nvPr/>
        </p:nvSpPr>
        <p:spPr>
          <a:xfrm>
            <a:off x="9921240" y="5212080"/>
            <a:ext cx="1554480" cy="457200"/>
          </a:xfrm>
          <a:prstGeom prst="rect">
            <a:avLst/>
          </a:prstGeom>
          <a:noFill/>
        </p:spPr>
        <p:txBody>
          <a:bodyPr wrap="square" anchor="t">
            <a:spAutoFit/>
          </a:bodyPr>
          <a:lstStyle/>
          <a:p>
            <a:pPr algn="ctr">
              <a:lnSpc>
                <a:spcPct val="100000"/>
              </a:lnSpc>
              <a:spcAft>
                <a:spcPts val="600"/>
              </a:spcAft>
            </a:pPr>
            <a:r>
              <a:rPr sz="850" b="0">
                <a:solidFill>
                  <a:srgbClr val="5A6B7B"/>
                </a:solidFill>
                <a:latin typeface="Calibri"/>
              </a:rPr>
              <a:t>continuous, real-time checks</a:t>
            </a:r>
          </a:p>
        </p:txBody>
      </p:sp>
      <p:sp>
        <p:nvSpPr>
          <p:cNvPr id="61" name="Rectangle 60"/>
          <p:cNvSpPr/>
          <p:nvPr/>
        </p:nvSpPr>
        <p:spPr>
          <a:xfrm>
            <a:off x="640080" y="5870448"/>
            <a:ext cx="10908792" cy="42062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 y="5925312"/>
            <a:ext cx="10515600" cy="310896"/>
          </a:xfrm>
          <a:prstGeom prst="rect">
            <a:avLst/>
          </a:prstGeom>
          <a:noFill/>
        </p:spPr>
        <p:txBody>
          <a:bodyPr wrap="square" anchor="ctr">
            <a:spAutoFit/>
          </a:bodyPr>
          <a:lstStyle/>
          <a:p>
            <a:pPr algn="l">
              <a:lnSpc>
                <a:spcPct val="105000"/>
              </a:lnSpc>
              <a:spcAft>
                <a:spcPts val="600"/>
              </a:spcAft>
            </a:pPr>
            <a:r>
              <a:rPr sz="1200" b="1">
                <a:solidFill>
                  <a:srgbClr val="C8A24B"/>
                </a:solidFill>
                <a:latin typeface="Calibri"/>
              </a:rPr>
              <a:t>The shift:  </a:t>
            </a:r>
            <a:r>
              <a:rPr sz="1200" b="1">
                <a:solidFill>
                  <a:srgbClr val="FFFFFF"/>
                </a:solidFill>
                <a:latin typeface="Calibri"/>
              </a:rPr>
              <a:t>from doing the work  →  to designing, governing and continuously improving the system that does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3175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
            <a:ext cx="10789920" cy="274320"/>
          </a:xfrm>
          <a:prstGeom prst="rect">
            <a:avLst/>
          </a:prstGeom>
          <a:noFill/>
        </p:spPr>
        <p:txBody>
          <a:bodyPr wrap="square" anchor="t">
            <a:spAutoFit/>
          </a:bodyPr>
          <a:lstStyle/>
          <a:p>
            <a:pPr algn="l">
              <a:lnSpc>
                <a:spcPct val="105000"/>
              </a:lnSpc>
              <a:spcAft>
                <a:spcPts val="600"/>
              </a:spcAft>
            </a:pPr>
            <a:r>
              <a:rPr sz="1100" b="1">
                <a:solidFill>
                  <a:srgbClr val="C8A24B"/>
                </a:solidFill>
                <a:latin typeface="Calibri"/>
              </a:rPr>
              <a:t>13 · FIRST 90 DAYS</a:t>
            </a:r>
          </a:p>
        </p:txBody>
      </p:sp>
      <p:sp>
        <p:nvSpPr>
          <p:cNvPr id="6" name="TextBox 5"/>
          <p:cNvSpPr txBox="1"/>
          <p:nvPr/>
        </p:nvSpPr>
        <p:spPr>
          <a:xfrm>
            <a:off x="548640" y="402336"/>
            <a:ext cx="11064240" cy="566928"/>
          </a:xfrm>
          <a:prstGeom prst="rect">
            <a:avLst/>
          </a:prstGeom>
          <a:noFill/>
        </p:spPr>
        <p:txBody>
          <a:bodyPr wrap="square" anchor="ctr">
            <a:spAutoFit/>
          </a:bodyPr>
          <a:lstStyle/>
          <a:p>
            <a:pPr algn="l">
              <a:lnSpc>
                <a:spcPct val="105000"/>
              </a:lnSpc>
              <a:spcAft>
                <a:spcPts val="600"/>
              </a:spcAft>
            </a:pPr>
            <a:r>
              <a:rPr sz="2500" b="0">
                <a:solidFill>
                  <a:srgbClr val="FFFFFF"/>
                </a:solidFill>
                <a:latin typeface="Calibri Light"/>
              </a:rPr>
              <a:t>90-day commitment + the ask</a:t>
            </a:r>
          </a:p>
        </p:txBody>
      </p:sp>
      <p:sp>
        <p:nvSpPr>
          <p:cNvPr id="7" name="Rectangle 6"/>
          <p:cNvSpPr/>
          <p:nvPr/>
        </p:nvSpPr>
        <p:spPr>
          <a:xfrm>
            <a:off x="548640" y="6419088"/>
            <a:ext cx="11091672" cy="9525"/>
          </a:xfrm>
          <a:prstGeom prst="rect">
            <a:avLst/>
          </a:prstGeom>
          <a:solidFill>
            <a:srgbClr val="D9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4572000" cy="292608"/>
          </a:xfrm>
          <a:prstGeom prst="rect">
            <a:avLst/>
          </a:prstGeom>
          <a:noFill/>
        </p:spPr>
        <p:txBody>
          <a:bodyPr wrap="square" anchor="t">
            <a:spAutoFit/>
          </a:bodyPr>
          <a:lstStyle/>
          <a:p>
            <a:pPr algn="l">
              <a:lnSpc>
                <a:spcPct val="105000"/>
              </a:lnSpc>
              <a:spcAft>
                <a:spcPts val="600"/>
              </a:spcAft>
            </a:pPr>
            <a:r>
              <a:rPr sz="900" b="0">
                <a:solidFill>
                  <a:srgbClr val="5A6B7B"/>
                </a:solidFill>
                <a:latin typeface="Calibri"/>
              </a:rPr>
              <a:t>Finance &amp; Controlling Transformation</a:t>
            </a:r>
          </a:p>
        </p:txBody>
      </p:sp>
      <p:sp>
        <p:nvSpPr>
          <p:cNvPr id="9" name="TextBox 8"/>
          <p:cNvSpPr txBox="1"/>
          <p:nvPr/>
        </p:nvSpPr>
        <p:spPr>
          <a:xfrm>
            <a:off x="3657600" y="6473952"/>
            <a:ext cx="4873752" cy="292608"/>
          </a:xfrm>
          <a:prstGeom prst="rect">
            <a:avLst/>
          </a:prstGeom>
          <a:noFill/>
        </p:spPr>
        <p:txBody>
          <a:bodyPr wrap="square" anchor="t">
            <a:spAutoFit/>
          </a:bodyPr>
          <a:lstStyle/>
          <a:p>
            <a:pPr algn="ctr">
              <a:lnSpc>
                <a:spcPct val="105000"/>
              </a:lnSpc>
              <a:spcAft>
                <a:spcPts val="600"/>
              </a:spcAft>
            </a:pPr>
            <a:r>
              <a:rPr sz="900" b="0">
                <a:solidFill>
                  <a:srgbClr val="5A6B7B"/>
                </a:solidFill>
                <a:latin typeface="Calibri"/>
              </a:rPr>
              <a:t>Confidential  ·  Prepared for the CFO</a:t>
            </a:r>
          </a:p>
        </p:txBody>
      </p:sp>
      <p:sp>
        <p:nvSpPr>
          <p:cNvPr id="10" name="TextBox 9"/>
          <p:cNvSpPr txBox="1"/>
          <p:nvPr/>
        </p:nvSpPr>
        <p:spPr>
          <a:xfrm>
            <a:off x="10424160" y="6473952"/>
            <a:ext cx="1216152" cy="292608"/>
          </a:xfrm>
          <a:prstGeom prst="rect">
            <a:avLst/>
          </a:prstGeom>
          <a:noFill/>
        </p:spPr>
        <p:txBody>
          <a:bodyPr wrap="square" anchor="t">
            <a:spAutoFit/>
          </a:bodyPr>
          <a:lstStyle/>
          <a:p>
            <a:pPr algn="r">
              <a:lnSpc>
                <a:spcPct val="105000"/>
              </a:lnSpc>
              <a:spcAft>
                <a:spcPts val="600"/>
              </a:spcAft>
            </a:pPr>
            <a:r>
              <a:rPr sz="900" b="1">
                <a:solidFill>
                  <a:srgbClr val="5A6B7B"/>
                </a:solidFill>
                <a:latin typeface="Calibri"/>
              </a:rPr>
              <a:t>15</a:t>
            </a:r>
          </a:p>
        </p:txBody>
      </p:sp>
      <p:sp>
        <p:nvSpPr>
          <p:cNvPr id="11" name="Rectangle 10"/>
          <p:cNvSpPr/>
          <p:nvPr/>
        </p:nvSpPr>
        <p:spPr>
          <a:xfrm>
            <a:off x="640080" y="1463040"/>
            <a:ext cx="1828800" cy="896112"/>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682496"/>
            <a:ext cx="1828800" cy="457200"/>
          </a:xfrm>
          <a:prstGeom prst="rect">
            <a:avLst/>
          </a:prstGeom>
          <a:noFill/>
        </p:spPr>
        <p:txBody>
          <a:bodyPr wrap="square" anchor="t">
            <a:spAutoFit/>
          </a:bodyPr>
          <a:lstStyle/>
          <a:p>
            <a:pPr algn="ctr">
              <a:lnSpc>
                <a:spcPct val="105000"/>
              </a:lnSpc>
              <a:spcAft>
                <a:spcPts val="600"/>
              </a:spcAft>
            </a:pPr>
            <a:r>
              <a:rPr sz="2000" b="1">
                <a:solidFill>
                  <a:srgbClr val="FFFFFF"/>
                </a:solidFill>
                <a:latin typeface="Calibri"/>
              </a:rPr>
              <a:t>30 days</a:t>
            </a:r>
          </a:p>
        </p:txBody>
      </p:sp>
      <p:sp>
        <p:nvSpPr>
          <p:cNvPr id="13" name="Rectangle 12"/>
          <p:cNvSpPr/>
          <p:nvPr/>
        </p:nvSpPr>
        <p:spPr>
          <a:xfrm>
            <a:off x="2651760" y="1463040"/>
            <a:ext cx="8961120" cy="896112"/>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1682496"/>
            <a:ext cx="8595360" cy="457200"/>
          </a:xfrm>
          <a:prstGeom prst="rect">
            <a:avLst/>
          </a:prstGeom>
          <a:noFill/>
        </p:spPr>
        <p:txBody>
          <a:bodyPr wrap="square" anchor="ctr">
            <a:spAutoFit/>
          </a:bodyPr>
          <a:lstStyle/>
          <a:p>
            <a:pPr algn="l">
              <a:lnSpc>
                <a:spcPct val="105000"/>
              </a:lnSpc>
              <a:spcAft>
                <a:spcPts val="600"/>
              </a:spcAft>
            </a:pPr>
            <a:r>
              <a:rPr sz="1500" b="0">
                <a:solidFill>
                  <a:srgbClr val="33383F"/>
                </a:solidFill>
                <a:latin typeface="Calibri"/>
              </a:rPr>
              <a:t>Situation assessment + a unified KPI data dictionary (entity-confirmed)</a:t>
            </a:r>
          </a:p>
        </p:txBody>
      </p:sp>
      <p:sp>
        <p:nvSpPr>
          <p:cNvPr id="15" name="Rectangle 14"/>
          <p:cNvSpPr/>
          <p:nvPr/>
        </p:nvSpPr>
        <p:spPr>
          <a:xfrm>
            <a:off x="640080" y="2487168"/>
            <a:ext cx="1828800" cy="896112"/>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706624"/>
            <a:ext cx="1828800" cy="457200"/>
          </a:xfrm>
          <a:prstGeom prst="rect">
            <a:avLst/>
          </a:prstGeom>
          <a:noFill/>
        </p:spPr>
        <p:txBody>
          <a:bodyPr wrap="square" anchor="t">
            <a:spAutoFit/>
          </a:bodyPr>
          <a:lstStyle/>
          <a:p>
            <a:pPr algn="ctr">
              <a:lnSpc>
                <a:spcPct val="105000"/>
              </a:lnSpc>
              <a:spcAft>
                <a:spcPts val="600"/>
              </a:spcAft>
            </a:pPr>
            <a:r>
              <a:rPr sz="2000" b="1">
                <a:solidFill>
                  <a:srgbClr val="FFFFFF"/>
                </a:solidFill>
                <a:latin typeface="Calibri"/>
              </a:rPr>
              <a:t>60 days</a:t>
            </a:r>
          </a:p>
        </p:txBody>
      </p:sp>
      <p:sp>
        <p:nvSpPr>
          <p:cNvPr id="17" name="Rectangle 16"/>
          <p:cNvSpPr/>
          <p:nvPr/>
        </p:nvSpPr>
        <p:spPr>
          <a:xfrm>
            <a:off x="2651760" y="2487168"/>
            <a:ext cx="8961120" cy="896112"/>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2706624"/>
            <a:ext cx="8595360" cy="457200"/>
          </a:xfrm>
          <a:prstGeom prst="rect">
            <a:avLst/>
          </a:prstGeom>
          <a:noFill/>
        </p:spPr>
        <p:txBody>
          <a:bodyPr wrap="square" anchor="ctr">
            <a:spAutoFit/>
          </a:bodyPr>
          <a:lstStyle/>
          <a:p>
            <a:pPr algn="l">
              <a:lnSpc>
                <a:spcPct val="105000"/>
              </a:lnSpc>
              <a:spcAft>
                <a:spcPts val="600"/>
              </a:spcAft>
            </a:pPr>
            <a:r>
              <a:rPr sz="1500" b="0">
                <a:solidFill>
                  <a:srgbClr val="33383F"/>
                </a:solidFill>
                <a:latin typeface="Calibri"/>
              </a:rPr>
              <a:t>Automate the monthly consolidation; first report Day 4 → Day 2</a:t>
            </a:r>
          </a:p>
        </p:txBody>
      </p:sp>
      <p:sp>
        <p:nvSpPr>
          <p:cNvPr id="19" name="Rectangle 18"/>
          <p:cNvSpPr/>
          <p:nvPr/>
        </p:nvSpPr>
        <p:spPr>
          <a:xfrm>
            <a:off x="640080" y="3511296"/>
            <a:ext cx="1828800" cy="896112"/>
          </a:xfrm>
          <a:prstGeom prst="rect">
            <a:avLst/>
          </a:prstGeom>
          <a:solidFill>
            <a:srgbClr val="178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730752"/>
            <a:ext cx="1828800" cy="457200"/>
          </a:xfrm>
          <a:prstGeom prst="rect">
            <a:avLst/>
          </a:prstGeom>
          <a:noFill/>
        </p:spPr>
        <p:txBody>
          <a:bodyPr wrap="square" anchor="t">
            <a:spAutoFit/>
          </a:bodyPr>
          <a:lstStyle/>
          <a:p>
            <a:pPr algn="ctr">
              <a:lnSpc>
                <a:spcPct val="105000"/>
              </a:lnSpc>
              <a:spcAft>
                <a:spcPts val="600"/>
              </a:spcAft>
            </a:pPr>
            <a:r>
              <a:rPr sz="2000" b="1">
                <a:solidFill>
                  <a:srgbClr val="FFFFFF"/>
                </a:solidFill>
                <a:latin typeface="Calibri"/>
              </a:rPr>
              <a:t>90 days</a:t>
            </a:r>
          </a:p>
        </p:txBody>
      </p:sp>
      <p:sp>
        <p:nvSpPr>
          <p:cNvPr id="21" name="Rectangle 20"/>
          <p:cNvSpPr/>
          <p:nvPr/>
        </p:nvSpPr>
        <p:spPr>
          <a:xfrm>
            <a:off x="2651760" y="3511296"/>
            <a:ext cx="8961120" cy="896112"/>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34640" y="3730752"/>
            <a:ext cx="8595360" cy="457200"/>
          </a:xfrm>
          <a:prstGeom prst="rect">
            <a:avLst/>
          </a:prstGeom>
          <a:noFill/>
        </p:spPr>
        <p:txBody>
          <a:bodyPr wrap="square" anchor="ctr">
            <a:spAutoFit/>
          </a:bodyPr>
          <a:lstStyle/>
          <a:p>
            <a:pPr algn="l">
              <a:lnSpc>
                <a:spcPct val="105000"/>
              </a:lnSpc>
              <a:spcAft>
                <a:spcPts val="600"/>
              </a:spcAft>
            </a:pPr>
            <a:r>
              <a:rPr sz="1500" b="0">
                <a:solidFill>
                  <a:srgbClr val="33383F"/>
                </a:solidFill>
                <a:latin typeface="Calibri"/>
              </a:rPr>
              <a:t>Launch the first self-service management dashboard (single version of truth)</a:t>
            </a:r>
          </a:p>
        </p:txBody>
      </p:sp>
      <p:sp>
        <p:nvSpPr>
          <p:cNvPr id="23" name="Rectangle 22"/>
          <p:cNvSpPr/>
          <p:nvPr/>
        </p:nvSpPr>
        <p:spPr>
          <a:xfrm>
            <a:off x="640080" y="4709160"/>
            <a:ext cx="10972800" cy="13716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882896"/>
            <a:ext cx="10607040" cy="1051560"/>
          </a:xfrm>
          <a:prstGeom prst="rect">
            <a:avLst/>
          </a:prstGeom>
          <a:noFill/>
        </p:spPr>
        <p:txBody>
          <a:bodyPr wrap="square" anchor="t">
            <a:spAutoFit/>
          </a:bodyPr>
          <a:lstStyle/>
          <a:p>
            <a:pPr algn="l">
              <a:lnSpc>
                <a:spcPct val="125000"/>
              </a:lnSpc>
              <a:spcAft>
                <a:spcPts val="800"/>
              </a:spcAft>
            </a:pPr>
            <a:r>
              <a:rPr sz="1500" b="1">
                <a:solidFill>
                  <a:srgbClr val="C8A24B"/>
                </a:solidFill>
                <a:latin typeface="Calibri"/>
              </a:rPr>
              <a:t>THE ASK</a:t>
            </a:r>
          </a:p>
          <a:p>
            <a:pPr algn="l">
              <a:lnSpc>
                <a:spcPct val="125000"/>
              </a:lnSpc>
              <a:spcAft>
                <a:spcPts val="800"/>
              </a:spcAft>
            </a:pPr>
            <a:r>
              <a:rPr sz="1800" b="1">
                <a:solidFill>
                  <a:srgbClr val="FFFFFF"/>
                </a:solidFill>
                <a:latin typeface="Calibri"/>
              </a:rPr>
              <a:t>Please authorize me to lead the KPI alignment and nominate one data contact per entity.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194560"/>
            <a:ext cx="10607040" cy="914400"/>
          </a:xfrm>
          <a:prstGeom prst="rect">
            <a:avLst/>
          </a:prstGeom>
          <a:noFill/>
        </p:spPr>
        <p:txBody>
          <a:bodyPr wrap="square" anchor="t">
            <a:spAutoFit/>
          </a:bodyPr>
          <a:lstStyle/>
          <a:p>
            <a:pPr algn="l">
              <a:lnSpc>
                <a:spcPct val="105000"/>
              </a:lnSpc>
              <a:spcAft>
                <a:spcPts val="600"/>
              </a:spcAft>
            </a:pPr>
            <a:r>
              <a:rPr sz="3200" b="0">
                <a:solidFill>
                  <a:srgbClr val="FFFFFF"/>
                </a:solidFill>
                <a:latin typeface="Calibri Light"/>
              </a:rPr>
              <a:t>Free Finance from reports, so it can help you decide.</a:t>
            </a:r>
          </a:p>
        </p:txBody>
      </p:sp>
      <p:sp>
        <p:nvSpPr>
          <p:cNvPr id="5" name="Rectangle 4"/>
          <p:cNvSpPr/>
          <p:nvPr/>
        </p:nvSpPr>
        <p:spPr>
          <a:xfrm>
            <a:off x="896112" y="3200400"/>
            <a:ext cx="3108960" cy="2540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429000"/>
            <a:ext cx="10607040" cy="914400"/>
          </a:xfrm>
          <a:prstGeom prst="rect">
            <a:avLst/>
          </a:prstGeom>
          <a:noFill/>
        </p:spPr>
        <p:txBody>
          <a:bodyPr wrap="square" anchor="t">
            <a:spAutoFit/>
          </a:bodyPr>
          <a:lstStyle/>
          <a:p>
            <a:pPr algn="l">
              <a:lnSpc>
                <a:spcPct val="105000"/>
              </a:lnSpc>
              <a:spcAft>
                <a:spcPts val="600"/>
              </a:spcAft>
            </a:pPr>
            <a:r>
              <a:rPr sz="1900" b="1">
                <a:solidFill>
                  <a:srgbClr val="C8A24B"/>
                </a:solidFill>
                <a:latin typeface="Calibri"/>
              </a:rPr>
              <a:t>Faster · More reliable · More forward-looking     |     Low cost · Group-aligned</a:t>
            </a:r>
          </a:p>
        </p:txBody>
      </p:sp>
      <p:sp>
        <p:nvSpPr>
          <p:cNvPr id="7" name="TextBox 6"/>
          <p:cNvSpPr txBox="1"/>
          <p:nvPr/>
        </p:nvSpPr>
        <p:spPr>
          <a:xfrm>
            <a:off x="868680" y="5943600"/>
            <a:ext cx="10607040" cy="457200"/>
          </a:xfrm>
          <a:prstGeom prst="rect">
            <a:avLst/>
          </a:prstGeom>
          <a:noFill/>
        </p:spPr>
        <p:txBody>
          <a:bodyPr wrap="square" anchor="t">
            <a:spAutoFit/>
          </a:bodyPr>
          <a:lstStyle/>
          <a:p>
            <a:pPr algn="l">
              <a:lnSpc>
                <a:spcPct val="105000"/>
              </a:lnSpc>
              <a:spcAft>
                <a:spcPts val="600"/>
              </a:spcAft>
            </a:pPr>
            <a:r>
              <a:rPr sz="1500" b="0">
                <a:solidFill>
                  <a:srgbClr val="9FB4C9"/>
                </a:solidFill>
                <a:latin typeface="Calibri"/>
              </a:rPr>
              <a:t>Thank you  ·  Happy to take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