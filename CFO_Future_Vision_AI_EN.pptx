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I see Finance heading. The autonomous AI engine in the middle runs the repetitive work end-to-end — monthly close, planning and forecasting, expense accruals, reconciliations, reporting, and continuous controls. People move to the top layer: we govern and assure it, we manage and maintain it, and — most importantly — we use creativity to keep improving its performance, while partnering with the business. Note the loop: people guide and improve the AI; the AI returns results, exceptions and insights. The shift is from doing the work to designing and improving the system that does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C8A24B"/>
                </a:solidFill>
                <a:latin typeface="Calibri"/>
              </a:rPr>
              <a:t>12 · FUTURE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Calibri Light"/>
              </a:rPr>
              <a:t>AI runs the routine — people manage it and create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Finance &amp; Controlling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473952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Confidential  ·  Prepared for the CFO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2161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07008"/>
            <a:ext cx="10908792" cy="1225296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207008"/>
            <a:ext cx="146304" cy="1225296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PEOPLE  ·  </a:t>
            </a:r>
            <a:r>
              <a:rPr sz="1300" b="1">
                <a:solidFill>
                  <a:srgbClr val="5A6B7B"/>
                </a:solidFill>
                <a:latin typeface="Calibri"/>
              </a:rPr>
              <a:t>govern, maintain &amp; elevate the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1664208"/>
            <a:ext cx="2542032" cy="65836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1719072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Govern &amp; assure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002536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C9D6E4"/>
                </a:solidFill>
                <a:latin typeface="Calibri"/>
              </a:rPr>
              <a:t>controls, ethics, sign-off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5304" y="1664208"/>
            <a:ext cx="2542032" cy="65836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1719072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Manage &amp; maintain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002536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C9D6E4"/>
                </a:solidFill>
                <a:latin typeface="Calibri"/>
              </a:rPr>
              <a:t>monitor, correct, retrain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664208"/>
            <a:ext cx="2542032" cy="65836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719072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Improve AI  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002536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C9D6E4"/>
                </a:solidFill>
                <a:latin typeface="Calibri"/>
              </a:rPr>
              <a:t>creativity: models, prompts,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97112" y="1664208"/>
            <a:ext cx="2542032" cy="65836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719072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Business partnering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002536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C9D6E4"/>
                </a:solidFill>
                <a:latin typeface="Calibri"/>
              </a:rPr>
              <a:t>advise, decide, add judgment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2834640" y="2487168"/>
            <a:ext cx="457200" cy="548640"/>
          </a:xfrm>
          <a:prstGeom prst="downArrow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256032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Guide · Govern · Improve</a:t>
            </a:r>
          </a:p>
        </p:txBody>
      </p:sp>
      <p:sp>
        <p:nvSpPr>
          <p:cNvPr id="28" name="Up Arrow 27"/>
          <p:cNvSpPr/>
          <p:nvPr/>
        </p:nvSpPr>
        <p:spPr>
          <a:xfrm>
            <a:off x="8915400" y="2487168"/>
            <a:ext cx="457200" cy="548640"/>
          </a:xfrm>
          <a:prstGeom prst="upArrow">
            <a:avLst/>
          </a:prstGeom>
          <a:solidFill>
            <a:srgbClr val="17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256032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178F80"/>
                </a:solidFill>
                <a:latin typeface="Calibri"/>
              </a:rPr>
              <a:t>Results · Exceptions · Insights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03120" y="3127248"/>
            <a:ext cx="7982712" cy="1024128"/>
          </a:xfrm>
          <a:prstGeom prst="roundRect">
            <a:avLst/>
          </a:prstGeom>
          <a:solidFill>
            <a:srgbClr val="17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331720" y="3346704"/>
            <a:ext cx="603504" cy="603504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3429000"/>
            <a:ext cx="6035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3273552"/>
            <a:ext cx="6766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AUTONOMOUS  AI  FINANCE 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703320"/>
            <a:ext cx="6766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6F4F1"/>
                </a:solidFill>
                <a:latin typeface="Calibri"/>
              </a:rPr>
              <a:t>runs repetitive finance processes end-to-end, 24/7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5806440" y="4187952"/>
            <a:ext cx="566928" cy="310896"/>
          </a:xfrm>
          <a:prstGeom prst="downArrow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187952"/>
            <a:ext cx="1828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1F3A5F"/>
                </a:solidFill>
                <a:latin typeface="Calibri"/>
              </a:rPr>
              <a:t>executes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553712"/>
            <a:ext cx="1737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4553712"/>
            <a:ext cx="1737360" cy="109728"/>
          </a:xfrm>
          <a:prstGeom prst="rect">
            <a:avLst/>
          </a:prstGeom>
          <a:solidFill>
            <a:srgbClr val="17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73168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Monthly Close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2120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Calibri"/>
              </a:rPr>
              <a:t>auto journals · accruals · consolidation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78024" y="4553712"/>
            <a:ext cx="1737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78024" y="4553712"/>
            <a:ext cx="1737360" cy="1097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9464" y="4773168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Plan &amp; Forecast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9464" y="52120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Calibri"/>
              </a:rPr>
              <a:t>driver-based · rolling · scenarios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15968" y="4553712"/>
            <a:ext cx="1737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15968" y="4553712"/>
            <a:ext cx="1737360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07408" y="4773168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Expense Accruals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07408" y="52120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Calibri"/>
              </a:rPr>
              <a:t>rule + ML estimates, auto-posted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53912" y="4553712"/>
            <a:ext cx="1737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53912" y="4553712"/>
            <a:ext cx="1737360" cy="109728"/>
          </a:xfrm>
          <a:prstGeom prst="rect">
            <a:avLst/>
          </a:prstGeom>
          <a:solidFill>
            <a:srgbClr val="17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45352" y="4773168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Reconciliations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52120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Calibri"/>
              </a:rPr>
              <a:t>auto-match · flag &amp; explain breaks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91856" y="4553712"/>
            <a:ext cx="1737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91856" y="4553712"/>
            <a:ext cx="1737360" cy="1097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83296" y="4773168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Mgmt Reporting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83296" y="52120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Calibri"/>
              </a:rPr>
              <a:t>auto-generated &amp; narrated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29800" y="4553712"/>
            <a:ext cx="1737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29800" y="4553712"/>
            <a:ext cx="1737360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21240" y="4773168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Anomaly &amp; Controls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1240" y="52120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5A6B7B"/>
                </a:solidFill>
                <a:latin typeface="Calibri"/>
              </a:rPr>
              <a:t>continuous, real-time checks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870448"/>
            <a:ext cx="10908792" cy="42062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5925312"/>
            <a:ext cx="10515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C8A24B"/>
                </a:solidFill>
                <a:latin typeface="Calibri"/>
              </a:rPr>
              <a:t>The shift:  </a:t>
            </a:r>
            <a:r>
              <a:rPr sz="1200" b="1">
                <a:solidFill>
                  <a:srgbClr val="FFFFFF"/>
                </a:solidFill>
                <a:latin typeface="Calibri"/>
              </a:rPr>
              <a:t>from doing the work  →  to designing, governing and continuously improving the system that does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