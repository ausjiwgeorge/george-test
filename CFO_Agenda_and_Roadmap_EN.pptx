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flow for the next 12 minutes. I start with how I read the situation and my principles, move to the vision, priorities and the delivery roadmap, then show two concrete cases — aligning Net Sales and the mapping pipeline — and close with real-time reporting, how I deliver under our constraints, how I keep up, and my 90-day commitment and single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roadmap, shown as a timeline. Five phases along an arrow of increasing maturity, each with its key action and a milestone. Follow the blue strip at the bottom — the single thread I manage is 'time to first report': Day 4 to Day 2 to Day 1 to near-real-time. Every phase delivers a visible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C8A24B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500" b="0">
                <a:solidFill>
                  <a:srgbClr val="FFFFFF"/>
                </a:solidFill>
                <a:latin typeface="Calibri Light"/>
              </a:rPr>
              <a:t>What I will 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Finance &amp; Controlling Transformation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473952"/>
            <a:ext cx="4873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Confidential  ·  Prepared for the CFO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12161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A6B7B"/>
                </a:solidFill>
                <a:latin typeface="Calibri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566928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8132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435608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Calibri"/>
              </a:rPr>
              <a:t>Diagnosis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755648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Where we stand and why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67128"/>
            <a:ext cx="566928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3113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185416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Calibri"/>
              </a:rPr>
              <a:t>Guiding Principles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505456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How I will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16936"/>
            <a:ext cx="566928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80944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935224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Calibri"/>
              </a:rPr>
              <a:t>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255264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Reporting factory → business partner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66744"/>
            <a:ext cx="566928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30752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685032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Calibri"/>
              </a:rPr>
              <a:t>Priorities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0507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What comes first, and why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416552"/>
            <a:ext cx="566928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48056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43484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Calibri"/>
              </a:rPr>
              <a:t>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75488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Four phases to delivery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166360"/>
            <a:ext cx="566928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23036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184648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Calibri"/>
              </a:rPr>
              <a:t>Intelligent Shared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504688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Layered target architecture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916168"/>
            <a:ext cx="566928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98017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934456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Calibri"/>
              </a:rPr>
              <a:t>Case A — One Version of Truth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6254496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Aligning Net Sales across entities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1417320"/>
            <a:ext cx="566928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48132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1435608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Calibri"/>
              </a:rPr>
              <a:t>Case B — Mapping &amp; Split Pipeline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1755648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Dirty data in, clean table out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2167128"/>
            <a:ext cx="566928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223113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2185416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Calibri"/>
              </a:rPr>
              <a:t>Real-time Reporting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2505456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Achieving 'right-time' information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2916936"/>
            <a:ext cx="566928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2980944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2935224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Calibri"/>
              </a:rPr>
              <a:t>Delivery under Constraints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3255264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Budget, IT and Group alignment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3666744"/>
            <a:ext cx="566928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3730752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3685032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Calibri"/>
              </a:rPr>
              <a:t>Staying Ahead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400507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Keeping up as the role evolves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4416552"/>
            <a:ext cx="566928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3640" y="448056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95160" y="443484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Calibri"/>
              </a:rPr>
              <a:t>Future Vision — AI-run Finance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95160" y="475488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AI executes; people manage &amp; create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63640" y="5166360"/>
            <a:ext cx="566928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523036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95160" y="5184648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1F3A5F"/>
                </a:solidFill>
                <a:latin typeface="Calibri"/>
              </a:rPr>
              <a:t>First 90 Days &amp; The Ask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95160" y="5504688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Commitment and next 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175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>
                <a:solidFill>
                  <a:srgbClr val="C8A24B"/>
                </a:solidFill>
                <a:latin typeface="Calibri"/>
              </a:rPr>
              <a:t>5 ·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1064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500" b="0">
                <a:solidFill>
                  <a:srgbClr val="FFFFFF"/>
                </a:solidFill>
                <a:latin typeface="Calibri Light"/>
              </a:rPr>
              <a:t>Stabilize → Standardize → Automate → Elevate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Finance &amp; Controlling Transformation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473952"/>
            <a:ext cx="4873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Confidential  ·  Prepared for the CFO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12161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A6B7B"/>
                </a:solidFill>
                <a:latin typeface="Calibri"/>
              </a:rPr>
              <a:t>02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7240" y="3584448"/>
            <a:ext cx="10607040" cy="310896"/>
          </a:xfrm>
          <a:prstGeom prst="rightArrow">
            <a:avLst/>
          </a:prstGeom>
          <a:solidFill>
            <a:srgbClr val="D9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0273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A6B7B"/>
                </a:solidFill>
                <a:latin typeface="Calibri"/>
              </a:rPr>
              <a:t>MATURITY  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98270" y="2834640"/>
            <a:ext cx="38100" cy="822960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61288" y="3483864"/>
            <a:ext cx="512064" cy="512064"/>
          </a:xfrm>
          <a:prstGeom prst="ellipse">
            <a:avLst/>
          </a:prstGeom>
          <a:solidFill>
            <a:srgbClr val="5A6B7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538728"/>
            <a:ext cx="5120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1371600"/>
            <a:ext cx="2212848" cy="566928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1417320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Phase 0 · Assess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1673352"/>
            <a:ext cx="1993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E8EEF4"/>
                </a:solidFill>
                <a:latin typeface="Calibri"/>
              </a:rPr>
              <a:t>~30 days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" y="1938528"/>
            <a:ext cx="221284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1993392"/>
            <a:ext cx="19933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33383F"/>
                </a:solidFill>
                <a:latin typeface="Calibri"/>
              </a:rPr>
              <a:t>Map process · inventory reports/licenses · lock core KPIs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" y="2871216"/>
            <a:ext cx="2212848" cy="25400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2596896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5A6B7B"/>
                </a:solidFill>
                <a:latin typeface="Calibri"/>
              </a:rPr>
              <a:t>◆ Assessment + quick-win 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84270" y="3895344"/>
            <a:ext cx="38100" cy="32004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47288" y="3483864"/>
            <a:ext cx="512064" cy="512064"/>
          </a:xfrm>
          <a:prstGeom prst="ellipse">
            <a:avLst/>
          </a:prstGeom>
          <a:solidFill>
            <a:srgbClr val="2E6DA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47288" y="3538728"/>
            <a:ext cx="5120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96896" y="4160520"/>
            <a:ext cx="2212848" cy="5669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06624" y="4206240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Phase 1 · Stabilize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6624" y="4462272"/>
            <a:ext cx="1993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E8EEF4"/>
                </a:solidFill>
                <a:latin typeface="Calibri"/>
              </a:rPr>
              <a:t>1–3 months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96896" y="4727448"/>
            <a:ext cx="221284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06624" y="4782312"/>
            <a:ext cx="19933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33383F"/>
                </a:solidFill>
                <a:latin typeface="Calibri"/>
              </a:rPr>
              <a:t>KPI dictionary + entity sign-off · Power Query auto-consolidation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96896" y="5660136"/>
            <a:ext cx="2212848" cy="254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6624" y="5385816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2E6DA4"/>
                </a:solidFill>
                <a:latin typeface="Calibri"/>
              </a:rPr>
              <a:t>◆ First report: Day 4 → Day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70270" y="2834640"/>
            <a:ext cx="3810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733288" y="3483864"/>
            <a:ext cx="512064" cy="512064"/>
          </a:xfrm>
          <a:prstGeom prst="ellipse">
            <a:avLst/>
          </a:prstGeom>
          <a:solidFill>
            <a:srgbClr val="1F3A5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33288" y="3538728"/>
            <a:ext cx="5120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82896" y="1371600"/>
            <a:ext cx="2212848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92624" y="1417320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Phase 2 · Standardize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92624" y="1673352"/>
            <a:ext cx="1993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E8EEF4"/>
                </a:solidFill>
                <a:latin typeface="Calibri"/>
              </a:rPr>
              <a:t>3–6 months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82896" y="1938528"/>
            <a:ext cx="221284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92624" y="1993392"/>
            <a:ext cx="19933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33383F"/>
                </a:solidFill>
                <a:latin typeface="Calibri"/>
              </a:rPr>
              <a:t>Central data model · local→Group mapping · master-data governance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82896" y="2871216"/>
            <a:ext cx="2212848" cy="25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92624" y="2596896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1F3A5F"/>
                </a:solidFill>
                <a:latin typeface="Calibri"/>
              </a:rPr>
              <a:t>◆ Single source of truth + drill-down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56270" y="3895344"/>
            <a:ext cx="38100" cy="320040"/>
          </a:xfrm>
          <a:prstGeom prst="rect">
            <a:avLst/>
          </a:prstGeom>
          <a:solidFill>
            <a:srgbClr val="178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019288" y="3483864"/>
            <a:ext cx="512064" cy="512064"/>
          </a:xfrm>
          <a:prstGeom prst="ellipse">
            <a:avLst/>
          </a:prstGeom>
          <a:solidFill>
            <a:srgbClr val="178F8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19288" y="3538728"/>
            <a:ext cx="5120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68896" y="4160520"/>
            <a:ext cx="2212848" cy="566928"/>
          </a:xfrm>
          <a:prstGeom prst="rect">
            <a:avLst/>
          </a:prstGeom>
          <a:solidFill>
            <a:srgbClr val="178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78624" y="4206240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Phase 3 · Automate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8624" y="4462272"/>
            <a:ext cx="1993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E8EEF4"/>
                </a:solidFill>
                <a:latin typeface="Calibri"/>
              </a:rPr>
              <a:t>6–12 months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68896" y="4727448"/>
            <a:ext cx="221284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78624" y="4782312"/>
            <a:ext cx="19933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33383F"/>
                </a:solidFill>
                <a:latin typeface="Calibri"/>
              </a:rPr>
              <a:t>End-to-end automation · near-real-time · integrate plan &amp; forecast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68896" y="5660136"/>
            <a:ext cx="2212848" cy="25400"/>
          </a:xfrm>
          <a:prstGeom prst="rect">
            <a:avLst/>
          </a:prstGeom>
          <a:solidFill>
            <a:srgbClr val="178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78624" y="5385816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178F80"/>
                </a:solidFill>
                <a:latin typeface="Calibri"/>
              </a:rPr>
              <a:t>◆ First report → Day 1 / near-real-time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42270" y="2834640"/>
            <a:ext cx="38100" cy="82296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305288" y="3483864"/>
            <a:ext cx="512064" cy="512064"/>
          </a:xfrm>
          <a:prstGeom prst="ellipse">
            <a:avLst/>
          </a:prstGeom>
          <a:solidFill>
            <a:srgbClr val="C8A24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05288" y="3538728"/>
            <a:ext cx="5120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54896" y="1371600"/>
            <a:ext cx="2212848" cy="56692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64624" y="1417320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Phase 4 · Elevate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64624" y="1673352"/>
            <a:ext cx="1993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E8EEF4"/>
                </a:solidFill>
                <a:latin typeface="Calibri"/>
              </a:rPr>
              <a:t>12 months +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54896" y="1938528"/>
            <a:ext cx="221284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64624" y="1993392"/>
            <a:ext cx="19933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33383F"/>
                </a:solidFill>
                <a:latin typeface="Calibri"/>
              </a:rPr>
              <a:t>Rolling forecast · driver models · scenarios · anomaly alerts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54896" y="2871216"/>
            <a:ext cx="2212848" cy="2540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64624" y="2596896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C8A24B"/>
                </a:solidFill>
                <a:latin typeface="Calibri"/>
              </a:rPr>
              <a:t>◆ Forward-looking + predictive analytics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5779008"/>
            <a:ext cx="1097280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5852160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C8A24B"/>
                </a:solidFill>
                <a:latin typeface="Calibri"/>
              </a:rPr>
              <a:t>Single thread — time to first report:   </a:t>
            </a:r>
            <a:r>
              <a:rPr sz="1200" b="1">
                <a:solidFill>
                  <a:srgbClr val="FFFFFF"/>
                </a:solidFill>
                <a:latin typeface="Calibri"/>
              </a:rPr>
              <a:t>Day 4  →  Day 2  →  Day 1  →  near-real-time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